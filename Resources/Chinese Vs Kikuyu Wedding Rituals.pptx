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From</c:v>
                </c:pt>
              </c:strCache>
            </c:strRef>
          </c:tx>
          <c:spPr>
            <a:solidFill>
              <a:srgbClr val="110E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Contingency  (10–20k)</c:v>
                  </c:pt>
                  <c:pt idx="1">
                    <c:v>Elders &amp; spokesman  (10–30k)</c:v>
                  </c:pt>
                  <c:pt idx="2">
                    <c:v>Gate fee · wauri  (5–30k)</c:v>
                  </c:pt>
                  <c:pt idx="3">
                    <c:v>Drinks  (20–50k)</c:v>
                  </c:pt>
                  <c:pt idx="4">
                    <c:v>Transport  (20–50k)</c:v>
                  </c:pt>
                  <c:pt idx="5">
                    <c:v>Shopping list  (50–200k)</c:v>
                  </c:pt>
                </c:lvl>
              </c:multiLvlStrCache>
            </c:multiLvlStrRef>
          </c:cat>
          <c:val>
            <c:numRef>
              <c:f>Sheet1!$B$2:$B$7</c:f>
              <c:numCache>
                <c:formatCode>General</c:formatCode>
                <c:ptCount val="6"/>
                <c:pt idx="0">
                  <c:v>10</c:v>
                </c:pt>
                <c:pt idx="1">
                  <c:v>10</c:v>
                </c:pt>
                <c:pt idx="2">
                  <c:v>5</c:v>
                </c:pt>
                <c:pt idx="3">
                  <c:v>20</c:v>
                </c:pt>
                <c:pt idx="4">
                  <c:v>20</c:v>
                </c:pt>
                <c:pt idx="5">
                  <c:v>50</c:v>
                </c:pt>
              </c:numCache>
            </c:numRef>
          </c:val>
        </c:ser>
        <c:ser>
          <c:idx val="1"/>
          <c:order val="1"/>
          <c:tx>
            <c:strRef>
              <c:f>Sheet1!$C$1</c:f>
              <c:strCache>
                <c:ptCount val="1"/>
                <c:pt idx="0">
                  <c:v>Range</c:v>
                </c:pt>
              </c:strCache>
            </c:strRef>
          </c:tx>
          <c:spPr>
            <a:solidFill>
              <a:srgbClr val="46A9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Contingency  (10–20k)</c:v>
                  </c:pt>
                  <c:pt idx="1">
                    <c:v>Elders &amp; spokesman  (10–30k)</c:v>
                  </c:pt>
                  <c:pt idx="2">
                    <c:v>Gate fee · wauri  (5–30k)</c:v>
                  </c:pt>
                  <c:pt idx="3">
                    <c:v>Drinks  (20–50k)</c:v>
                  </c:pt>
                  <c:pt idx="4">
                    <c:v>Transport  (20–50k)</c:v>
                  </c:pt>
                  <c:pt idx="5">
                    <c:v>Shopping list  (50–200k)</c:v>
                  </c:pt>
                </c:lvl>
              </c:multiLvlStrCache>
            </c:multiLvlStrRef>
          </c:cat>
          <c:val>
            <c:numRef>
              <c:f>Sheet1!$C$2:$C$7</c:f>
              <c:numCache>
                <c:formatCode>General</c:formatCode>
                <c:ptCount val="6"/>
                <c:pt idx="0">
                  <c:v>10</c:v>
                </c:pt>
                <c:pt idx="1">
                  <c:v>20</c:v>
                </c:pt>
                <c:pt idx="2">
                  <c:v>25</c:v>
                </c:pt>
                <c:pt idx="3">
                  <c:v>30</c:v>
                </c:pt>
                <c:pt idx="4">
                  <c:v>30</c:v>
                </c:pt>
                <c:pt idx="5">
                  <c:v>150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E8D9"/>
                </a:solidFill>
                <a:latin typeface="Calibri"/>
              </a:defRPr>
            </a:pPr>
            <a:endParaRPr lang="en-US"/>
          </a:p>
        </c:txPr>
        <c:crossAx val="2094734552"/>
        <c:crosses val="autoZero"/>
        <c:auto val="1"/>
        <c:lblAlgn val="ctr"/>
        <c:noMultiLvlLbl val="1"/>
      </c:catAx>
      <c:valAx>
        <c:axId val="2094734552"/>
        <c:scaling>
          <c:orientation val="minMax"/>
          <c:max val="200"/>
        </c:scaling>
        <c:delete val="0"/>
        <c:axPos val="b"/>
        <c:majorGridlines>
          <c:spPr>
            <a:ln w="6350" cap="flat">
              <a:solidFill>
                <a:srgbClr val="3A2F2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50" b="0" i="0" u="none" strike="noStrike">
                <a:solidFill>
                  <a:srgbClr val="A99A8F"/>
                </a:solidFill>
                <a:latin typeface="Calibri"/>
              </a:defRPr>
            </a:pPr>
            <a:endParaRPr lang="en-US"/>
          </a:p>
        </c:txPr>
        <c:crossAx val="2094734554"/>
        <c:crosses val="autoZero"/>
        <c:crossBetween val="between"/>
        <c:majorUnit val="50"/>
      </c:valAx>
      <c:spPr>
        <a:solidFill>
          <a:srgbClr val="110E0C"/>
        </a:solidFill>
        <a:ln>
          <a:noFill/>
        </a:ln>
        <a:effectLst/>
      </c:spPr>
    </c:plotArea>
    <c:plotVisOnly val="1"/>
    <c:dispBlanksAs val="span"/>
  </c:chart>
  <c:spPr>
    <a:solidFill>
      <a:srgbClr val="110E0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Embroidery coverage</c:v>
                </c:pt>
              </c:strCache>
            </c:strRef>
          </c:tx>
          <c:spPr>
            <a:solidFill>
              <a:srgbClr val="E5493A"/>
            </a:solidFill>
            <a:effectLst/>
          </c:spPr>
          <c:invertIfNegative val="0"/>
          <c:dLbls>
            <c:numFmt formatCode="0&quot;%&quot;" sourceLinked="0"/>
            <c:txPr>
              <a:bodyPr/>
              <a:lstStyle/>
              <a:p>
                <a:pPr>
                  <a:defRPr b="0" i="0" strike="noStrike" sz="1100" u="none">
                    <a:solidFill>
                      <a:srgbClr val="DDAC4E"/>
                    </a:solidFill>
                    <a:latin typeface="Calibri"/>
                  </a:defRPr>
                </a:pPr>
              </a:p>
            </c:txPr>
            <c:showLegendKey val="0"/>
            <c:showVal val="1"/>
            <c:showCatName val="0"/>
            <c:showSerName val="0"/>
            <c:showPercent val="0"/>
            <c:showBubbleSize val="0"/>
            <c:showLeaderLines val="0"/>
          </c:dLbls>
          <c:dPt>
            <c:idx val="0"/>
            <c:invertIfNegative val="0"/>
            <c:bubble3D val="0"/>
            <c:spPr>
              <a:solidFill>
                <a:srgbClr val="E5493A"/>
              </a:solidFill>
              <a:effectLst/>
            </c:spPr>
          </c:dPt>
          <c:dPt>
            <c:idx val="1"/>
            <c:invertIfNegative val="0"/>
            <c:bubble3D val="0"/>
            <c:spPr>
              <a:solidFill>
                <a:srgbClr val="E5493A"/>
              </a:solidFill>
              <a:effectLst/>
            </c:spPr>
          </c:dPt>
          <c:dPt>
            <c:idx val="2"/>
            <c:invertIfNegative val="0"/>
            <c:bubble3D val="0"/>
            <c:spPr>
              <a:solidFill>
                <a:srgbClr val="C9803F"/>
              </a:solidFill>
              <a:effectLst/>
            </c:spPr>
          </c:dPt>
          <c:dPt>
            <c:idx val="3"/>
            <c:invertIfNegative val="0"/>
            <c:bubble3D val="0"/>
            <c:spPr>
              <a:solidFill>
                <a:srgbClr val="C9803F"/>
              </a:solidFill>
              <a:effectLst/>
            </c:spPr>
          </c:dPt>
          <c:dPt>
            <c:idx val="4"/>
            <c:invertIfNegative val="0"/>
            <c:bubble3D val="0"/>
            <c:spPr>
              <a:solidFill>
                <a:srgbClr val="DDAC4E"/>
              </a:solidFill>
              <a:effectLst/>
            </c:spPr>
          </c:dPt>
          <c:cat>
            <c:multiLvlStrRef>
              <c:f>Sheet1!$A$2:$A$6</c:f>
              <c:multiLvlStrCache>
                <c:ptCount val="5"/>
                <c:lvl>
                  <c:pt idx="0">
                    <c:v>Guà huáng 褂皇</c:v>
                  </c:pt>
                  <c:pt idx="1">
                    <c:v>Guà hòu 褂后</c:v>
                  </c:pt>
                  <c:pt idx="2">
                    <c:v>Dà wǔfú 大五福</c:v>
                  </c:pt>
                  <c:pt idx="3">
                    <c:v>Zhōng wǔfú 中五福</c:v>
                  </c:pt>
                  <c:pt idx="4">
                    <c:v>Xiǎo wǔfú 小五福</c:v>
                  </c:pt>
                </c:lvl>
              </c:multiLvlStrCache>
            </c:multiLvlStrRef>
          </c:cat>
          <c:val>
            <c:numRef>
              <c:f>Sheet1!$B$2:$B$6</c:f>
              <c:numCache>
                <c:formatCode>General</c:formatCode>
                <c:ptCount val="5"/>
                <c:pt idx="0">
                  <c:v>100</c:v>
                </c:pt>
                <c:pt idx="1">
                  <c:v>90</c:v>
                </c:pt>
                <c:pt idx="2">
                  <c:v>70</c:v>
                </c:pt>
                <c:pt idx="3">
                  <c:v>50</c:v>
                </c:pt>
                <c:pt idx="4">
                  <c:v>30</c:v>
                </c:pt>
              </c:numCache>
            </c:numRef>
          </c:val>
        </c:ser>
        <c:dLbls>
          <c:numFmt formatCode="0&quot;%&quot;" sourceLinked="0"/>
          <c:txPr>
            <a:bodyPr/>
            <a:lstStyle/>
            <a:p>
              <a:pPr>
                <a:defRPr b="0" i="0" strike="noStrike" sz="1100" u="none">
                  <a:solidFill>
                    <a:srgbClr val="DDAC4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F1E8D9"/>
                </a:solidFill>
                <a:latin typeface="Calibri"/>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10E0C"/>
        </a:solidFill>
        <a:ln>
          <a:noFill/>
        </a:ln>
        <a:effectLst/>
      </c:spPr>
    </c:plotArea>
    <c:plotVisOnly val="1"/>
    <c:dispBlanksAs val="span"/>
  </c:chart>
  <c:spPr>
    <a:solidFill>
      <a:srgbClr val="110E0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claim: these two cultures never met, and built the same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Everything after it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paying it off is an insult. The open debt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slide that wins the argument — let it sit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Conceding the disputed numbers first is a stronger position than defending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56692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A COMPARATIVE FIELD GUIDE · MARRIAGE AS TREATY</a:t>
            </a:r>
            <a:endParaRPr lang="en-US" sz="1050" dirty="0"/>
          </a:p>
        </p:txBody>
      </p:sp>
      <p:sp>
        <p:nvSpPr>
          <p:cNvPr id="3" name="Text 1"/>
          <p:cNvSpPr txBox="1"/>
          <p:nvPr/>
        </p:nvSpPr>
        <p:spPr>
          <a:xfrm>
            <a:off x="594360" y="960120"/>
            <a:ext cx="10515600" cy="1920240"/>
          </a:xfrm>
          <a:prstGeom prst="rect">
            <a:avLst/>
          </a:prstGeom>
          <a:noFill/>
          <a:ln/>
        </p:spPr>
        <p:txBody>
          <a:bodyPr wrap="square" lIns="0" tIns="0" rIns="0" bIns="0" rtlCol="0" anchor="ctr"/>
          <a:lstStyle/>
          <a:p>
            <a:pPr indent="0" marL="0">
              <a:lnSpc>
                <a:spcPts val="6400"/>
              </a:lnSpc>
              <a:buNone/>
            </a:pPr>
            <a:r>
              <a:rPr lang="en-US" sz="5800" b="1" dirty="0">
                <a:solidFill>
                  <a:srgbClr val="F1E8D9"/>
                </a:solidFill>
                <a:latin typeface="Cambria" pitchFamily="34" charset="0"/>
                <a:ea typeface="Cambria" pitchFamily="34" charset="-122"/>
                <a:cs typeface="Cambria" pitchFamily="34" charset="-120"/>
              </a:rPr>
              <a:t>Six Rites,</a:t>
            </a:r>
            <a:endParaRPr lang="en-US" sz="5800" dirty="0"/>
          </a:p>
          <a:p>
            <a:pPr indent="0" marL="0">
              <a:lnSpc>
                <a:spcPts val="6400"/>
              </a:lnSpc>
              <a:buNone/>
            </a:pPr>
            <a:r>
              <a:rPr lang="en-US" sz="5800" b="1" dirty="0">
                <a:solidFill>
                  <a:srgbClr val="E5493A"/>
                </a:solidFill>
                <a:latin typeface="Cambria" pitchFamily="34" charset="0"/>
                <a:ea typeface="Cambria" pitchFamily="34" charset="-122"/>
                <a:cs typeface="Cambria" pitchFamily="34" charset="-120"/>
              </a:rPr>
              <a:t>Ninety-Nine </a:t>
            </a:r>
            <a:pPr indent="0" marL="0">
              <a:lnSpc>
                <a:spcPts val="6400"/>
              </a:lnSpc>
              <a:buNone/>
            </a:pPr>
            <a:r>
              <a:rPr lang="en-US" sz="5800" b="1" dirty="0">
                <a:solidFill>
                  <a:srgbClr val="46A98A"/>
                </a:solidFill>
                <a:latin typeface="Cambria" pitchFamily="34" charset="0"/>
                <a:ea typeface="Cambria" pitchFamily="34" charset="-122"/>
                <a:cs typeface="Cambria" pitchFamily="34" charset="-120"/>
              </a:rPr>
              <a:t>Goats</a:t>
            </a:r>
            <a:endParaRPr lang="en-US" sz="5800" dirty="0"/>
          </a:p>
        </p:txBody>
      </p:sp>
      <p:sp>
        <p:nvSpPr>
          <p:cNvPr id="4" name="Text 2"/>
          <p:cNvSpPr txBox="1"/>
          <p:nvPr/>
        </p:nvSpPr>
        <p:spPr>
          <a:xfrm>
            <a:off x="594360" y="3017520"/>
            <a:ext cx="8412480" cy="86868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China codified marriage into six formal rites before 221 BC. The Agĩkũyũ of central Kenya built a parallel machine out of goats, beer, a branch and a shoulder blade.</a:t>
            </a:r>
            <a:endParaRPr lang="en-US" sz="1500" dirty="0"/>
          </a:p>
        </p:txBody>
      </p:sp>
      <p:sp>
        <p:nvSpPr>
          <p:cNvPr id="5" name="Shape 3"/>
          <p:cNvSpPr/>
          <p:nvPr/>
        </p:nvSpPr>
        <p:spPr>
          <a:xfrm>
            <a:off x="594360" y="4114800"/>
            <a:ext cx="5166360" cy="1965960"/>
          </a:xfrm>
          <a:prstGeom prst="rect">
            <a:avLst/>
          </a:prstGeom>
          <a:solidFill>
            <a:srgbClr val="1C1613"/>
          </a:solidFill>
          <a:ln w="9525">
            <a:solidFill>
              <a:srgbClr val="3A2F26"/>
            </a:solidFill>
            <a:prstDash val="solid"/>
          </a:ln>
        </p:spPr>
      </p:sp>
      <p:sp>
        <p:nvSpPr>
          <p:cNvPr id="6" name="Text 4"/>
          <p:cNvSpPr txBox="1"/>
          <p:nvPr/>
        </p:nvSpPr>
        <p:spPr>
          <a:xfrm>
            <a:off x="868680" y="4297680"/>
            <a:ext cx="4617720" cy="457200"/>
          </a:xfrm>
          <a:prstGeom prst="rect">
            <a:avLst/>
          </a:prstGeom>
          <a:noFill/>
          <a:ln/>
        </p:spPr>
        <p:txBody>
          <a:bodyPr wrap="square" lIns="0" tIns="0" rIns="0" bIns="0" rtlCol="0" anchor="ctr"/>
          <a:lstStyle/>
          <a:p>
            <a:pPr indent="0" marL="0">
              <a:buNone/>
            </a:pPr>
            <a:r>
              <a:rPr lang="en-US" sz="2200" b="1" dirty="0">
                <a:solidFill>
                  <a:srgbClr val="E5493A"/>
                </a:solidFill>
                <a:latin typeface="Cambria" pitchFamily="34" charset="0"/>
                <a:ea typeface="Cambria" pitchFamily="34" charset="-122"/>
                <a:cs typeface="Cambria" pitchFamily="34" charset="-120"/>
              </a:rPr>
              <a:t>三書六禮</a:t>
            </a:r>
            <a:endParaRPr lang="en-US" sz="2200" dirty="0"/>
          </a:p>
        </p:txBody>
      </p:sp>
      <p:sp>
        <p:nvSpPr>
          <p:cNvPr id="7" name="Text 5"/>
          <p:cNvSpPr txBox="1"/>
          <p:nvPr/>
        </p:nvSpPr>
        <p:spPr>
          <a:xfrm>
            <a:off x="868680" y="4754880"/>
            <a:ext cx="4617720" cy="274320"/>
          </a:xfrm>
          <a:prstGeom prst="rect">
            <a:avLst/>
          </a:prstGeom>
          <a:noFill/>
          <a:ln/>
        </p:spPr>
        <p:txBody>
          <a:bodyPr wrap="square" lIns="0" tIns="0" rIns="0" bIns="0" rtlCol="0" anchor="ctr"/>
          <a:lstStyle/>
          <a:p>
            <a:pPr indent="0" marL="0">
              <a:buNone/>
            </a:pPr>
            <a:r>
              <a:rPr lang="en-US" sz="1300" b="1" dirty="0">
                <a:solidFill>
                  <a:srgbClr val="F1E8D9"/>
                </a:solidFill>
                <a:latin typeface="Cambria" pitchFamily="34" charset="0"/>
                <a:ea typeface="Cambria" pitchFamily="34" charset="-122"/>
                <a:cs typeface="Cambria" pitchFamily="34" charset="-120"/>
              </a:rPr>
              <a:t>Sān shū liù lǐ</a:t>
            </a:r>
            <a:endParaRPr lang="en-US" sz="1300" dirty="0"/>
          </a:p>
        </p:txBody>
      </p:sp>
      <p:sp>
        <p:nvSpPr>
          <p:cNvPr id="8" name="Text 6"/>
          <p:cNvSpPr txBox="1"/>
          <p:nvPr/>
        </p:nvSpPr>
        <p:spPr>
          <a:xfrm>
            <a:off x="868680" y="5047488"/>
            <a:ext cx="4617720" cy="914400"/>
          </a:xfrm>
          <a:prstGeom prst="rect">
            <a:avLst/>
          </a:prstGeom>
          <a:noFill/>
          <a:ln/>
        </p:spPr>
        <p:txBody>
          <a:bodyPr wrap="square" lIns="0" tIns="0" rIns="0" bIns="0" rtlCol="0" anchor="t"/>
          <a:lstStyle/>
          <a:p>
            <a:pPr indent="0" marL="0">
              <a:lnSpc>
                <a:spcPts val="1600"/>
              </a:lnSpc>
              <a:buNone/>
            </a:pPr>
            <a:r>
              <a:rPr lang="en-US" sz="1150" dirty="0">
                <a:solidFill>
                  <a:srgbClr val="A99A8F"/>
                </a:solidFill>
                <a:latin typeface="Calibri" pitchFamily="34" charset="0"/>
                <a:ea typeface="Calibri" pitchFamily="34" charset="-122"/>
                <a:cs typeface="Calibri" pitchFamily="34" charset="-120"/>
              </a:rPr>
              <a:t>Three Letters and Six Rites, set down in the Book of Rites. A wedding containing all six is 大娶 — a complete wedding.</a:t>
            </a:r>
            <a:endParaRPr lang="en-US" sz="1150" dirty="0"/>
          </a:p>
        </p:txBody>
      </p:sp>
      <p:sp>
        <p:nvSpPr>
          <p:cNvPr id="9" name="Shape 7"/>
          <p:cNvSpPr/>
          <p:nvPr/>
        </p:nvSpPr>
        <p:spPr>
          <a:xfrm>
            <a:off x="6446520" y="4114800"/>
            <a:ext cx="5166360" cy="1965960"/>
          </a:xfrm>
          <a:prstGeom prst="rect">
            <a:avLst/>
          </a:prstGeom>
          <a:solidFill>
            <a:srgbClr val="1C1613"/>
          </a:solidFill>
          <a:ln w="9525">
            <a:solidFill>
              <a:srgbClr val="3A2F26"/>
            </a:solidFill>
            <a:prstDash val="solid"/>
          </a:ln>
        </p:spPr>
      </p:sp>
      <p:sp>
        <p:nvSpPr>
          <p:cNvPr id="10" name="Text 8"/>
          <p:cNvSpPr txBox="1"/>
          <p:nvPr/>
        </p:nvSpPr>
        <p:spPr>
          <a:xfrm>
            <a:off x="6720840" y="4297680"/>
            <a:ext cx="4617720" cy="457200"/>
          </a:xfrm>
          <a:prstGeom prst="rect">
            <a:avLst/>
          </a:prstGeom>
          <a:noFill/>
          <a:ln/>
        </p:spPr>
        <p:txBody>
          <a:bodyPr wrap="square" lIns="0" tIns="0" rIns="0" bIns="0" rtlCol="0" anchor="ctr"/>
          <a:lstStyle/>
          <a:p>
            <a:pPr indent="0" marL="0">
              <a:buNone/>
            </a:pPr>
            <a:r>
              <a:rPr lang="en-US" sz="2200" b="1" dirty="0">
                <a:solidFill>
                  <a:srgbClr val="46A98A"/>
                </a:solidFill>
                <a:latin typeface="Cambria" pitchFamily="34" charset="0"/>
                <a:ea typeface="Cambria" pitchFamily="34" charset="-122"/>
                <a:cs typeface="Cambria" pitchFamily="34" charset="-120"/>
              </a:rPr>
              <a:t>Rũracio · Ngurario</a:t>
            </a:r>
            <a:endParaRPr lang="en-US" sz="2200" dirty="0"/>
          </a:p>
        </p:txBody>
      </p:sp>
      <p:sp>
        <p:nvSpPr>
          <p:cNvPr id="11" name="Text 9"/>
          <p:cNvSpPr txBox="1"/>
          <p:nvPr/>
        </p:nvSpPr>
        <p:spPr>
          <a:xfrm>
            <a:off x="6720840" y="4754880"/>
            <a:ext cx="4617720" cy="274320"/>
          </a:xfrm>
          <a:prstGeom prst="rect">
            <a:avLst/>
          </a:prstGeom>
          <a:noFill/>
          <a:ln/>
        </p:spPr>
        <p:txBody>
          <a:bodyPr wrap="square" lIns="0" tIns="0" rIns="0" bIns="0" rtlCol="0" anchor="ctr"/>
          <a:lstStyle/>
          <a:p>
            <a:pPr indent="0" marL="0">
              <a:buNone/>
            </a:pPr>
            <a:r>
              <a:rPr lang="en-US" sz="1300" b="1" dirty="0">
                <a:solidFill>
                  <a:srgbClr val="F1E8D9"/>
                </a:solidFill>
                <a:latin typeface="Cambria" pitchFamily="34" charset="0"/>
                <a:ea typeface="Cambria" pitchFamily="34" charset="-122"/>
                <a:cs typeface="Cambria" pitchFamily="34" charset="-120"/>
              </a:rPr>
              <a:t>Gĩkũyũ ũthoni</a:t>
            </a:r>
            <a:endParaRPr lang="en-US" sz="1300" dirty="0"/>
          </a:p>
        </p:txBody>
      </p:sp>
      <p:sp>
        <p:nvSpPr>
          <p:cNvPr id="12" name="Text 10"/>
          <p:cNvSpPr txBox="1"/>
          <p:nvPr/>
        </p:nvSpPr>
        <p:spPr>
          <a:xfrm>
            <a:off x="6720840" y="5047488"/>
            <a:ext cx="4617720" cy="914400"/>
          </a:xfrm>
          <a:prstGeom prst="rect">
            <a:avLst/>
          </a:prstGeom>
          <a:noFill/>
          <a:ln/>
        </p:spPr>
        <p:txBody>
          <a:bodyPr wrap="square" lIns="0" tIns="0" rIns="0" bIns="0" rtlCol="0" anchor="t"/>
          <a:lstStyle/>
          <a:p>
            <a:pPr indent="0" marL="0">
              <a:lnSpc>
                <a:spcPts val="1600"/>
              </a:lnSpc>
              <a:buNone/>
            </a:pPr>
            <a:r>
              <a:rPr lang="en-US" sz="1150" dirty="0">
                <a:solidFill>
                  <a:srgbClr val="A99A8F"/>
                </a:solidFill>
                <a:latin typeface="Calibri" pitchFamily="34" charset="0"/>
                <a:ea typeface="Calibri" pitchFamily="34" charset="-122"/>
                <a:cs typeface="Calibri" pitchFamily="34" charset="-120"/>
              </a:rPr>
              <a:t>The negotiation and the sealing. Unwritten, varying between the nine clans — and still what decides whether a Kikuyu woman is married.</a:t>
            </a:r>
            <a:endParaRPr lang="en-US" sz="1150" dirty="0"/>
          </a:p>
        </p:txBody>
      </p:sp>
      <p:sp>
        <p:nvSpPr>
          <p:cNvPr id="13" name="Text 11"/>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TITLE</a:t>
            </a:r>
            <a:endParaRPr lang="en-US" sz="850" dirty="0"/>
          </a:p>
        </p:txBody>
      </p:sp>
      <p:sp>
        <p:nvSpPr>
          <p:cNvPr id="14" name="Text 12"/>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 / 24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THE THESIS</a:t>
            </a:r>
            <a:endParaRPr lang="en-US" sz="1050" dirty="0"/>
          </a:p>
        </p:txBody>
      </p:sp>
      <p:sp>
        <p:nvSpPr>
          <p:cNvPr id="3" name="Text 1"/>
          <p:cNvSpPr txBox="1"/>
          <p:nvPr/>
        </p:nvSpPr>
        <p:spPr>
          <a:xfrm>
            <a:off x="594360" y="1691640"/>
            <a:ext cx="9692640" cy="2377440"/>
          </a:xfrm>
          <a:prstGeom prst="rect">
            <a:avLst/>
          </a:prstGeom>
          <a:noFill/>
          <a:ln/>
        </p:spPr>
        <p:txBody>
          <a:bodyPr wrap="square" lIns="0" tIns="0" rIns="0" bIns="0" rtlCol="0" anchor="ctr"/>
          <a:lstStyle/>
          <a:p>
            <a:pPr indent="0" marL="0">
              <a:lnSpc>
                <a:spcPts val="5000"/>
              </a:lnSpc>
              <a:buNone/>
            </a:pPr>
            <a:r>
              <a:rPr lang="en-US" sz="4000" dirty="0">
                <a:solidFill>
                  <a:srgbClr val="F1E8D9"/>
                </a:solidFill>
                <a:latin typeface="Cambria" pitchFamily="34" charset="0"/>
                <a:ea typeface="Cambria" pitchFamily="34" charset="-122"/>
                <a:cs typeface="Cambria" pitchFamily="34" charset="-120"/>
              </a:rPr>
              <a:t>Two cultures that never met built </a:t>
            </a:r>
            <a:pPr indent="0" marL="0">
              <a:lnSpc>
                <a:spcPts val="5000"/>
              </a:lnSpc>
              <a:buNone/>
            </a:pPr>
            <a:r>
              <a:rPr lang="en-US" sz="4000" dirty="0">
                <a:solidFill>
                  <a:srgbClr val="DDAC4E"/>
                </a:solidFill>
                <a:latin typeface="Cambria" pitchFamily="34" charset="0"/>
                <a:ea typeface="Cambria" pitchFamily="34" charset="-122"/>
                <a:cs typeface="Cambria" pitchFamily="34" charset="-120"/>
              </a:rPr>
              <a:t>the same machine</a:t>
            </a:r>
            <a:pPr indent="0" marL="0">
              <a:lnSpc>
                <a:spcPts val="5000"/>
              </a:lnSpc>
              <a:buNone/>
            </a:pPr>
            <a:r>
              <a:rPr lang="en-US" sz="4000" dirty="0">
                <a:solidFill>
                  <a:srgbClr val="F1E8D9"/>
                </a:solidFill>
                <a:latin typeface="Cambria" pitchFamily="34" charset="0"/>
                <a:ea typeface="Cambria" pitchFamily="34" charset="-122"/>
                <a:cs typeface="Cambria" pitchFamily="34" charset="-120"/>
              </a:rPr>
              <a:t> out of completely different parts.</a:t>
            </a:r>
            <a:endParaRPr lang="en-US" sz="4000" dirty="0"/>
          </a:p>
        </p:txBody>
      </p:sp>
      <p:sp>
        <p:nvSpPr>
          <p:cNvPr id="4" name="Text 2"/>
          <p:cNvSpPr txBox="1"/>
          <p:nvPr/>
        </p:nvSpPr>
        <p:spPr>
          <a:xfrm>
            <a:off x="594360" y="4480560"/>
            <a:ext cx="8229600" cy="100584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Neither system is about a couple. Both are about two families binding themselves so tightly the knot cannot be untied — and both leave the bill deliberately unpaid so that it never can be.</a:t>
            </a:r>
            <a:endParaRPr lang="en-US" sz="1500" dirty="0"/>
          </a:p>
        </p:txBody>
      </p:sp>
      <p:sp>
        <p:nvSpPr>
          <p:cNvPr id="5"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THESIS</a:t>
            </a:r>
            <a:endParaRPr lang="en-US" sz="850" dirty="0"/>
          </a:p>
        </p:txBody>
      </p:sp>
      <p:sp>
        <p:nvSpPr>
          <p:cNvPr id="6"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THREE MECHANICS BOTH CULTURES INVENTED INDEPENDENTLY</a:t>
            </a:r>
            <a:endParaRPr lang="en-US" sz="1050" dirty="0"/>
          </a:p>
        </p:txBody>
      </p:sp>
      <p:sp>
        <p:nvSpPr>
          <p:cNvPr id="3" name="Text 1"/>
          <p:cNvSpPr txBox="1"/>
          <p:nvPr/>
        </p:nvSpPr>
        <p:spPr>
          <a:xfrm>
            <a:off x="594360" y="822960"/>
            <a:ext cx="11002975" cy="675861"/>
          </a:xfrm>
          <a:prstGeom prst="rect">
            <a:avLst/>
          </a:prstGeom>
          <a:noFill/>
          <a:ln/>
        </p:spPr>
        <p:txBody>
          <a:bodyPr wrap="square" lIns="0" tIns="0" rIns="0" bIns="0" rtlCol="0" anchor="ctr"/>
          <a:lstStyle/>
          <a:p>
            <a:pPr indent="0" marL="0">
              <a:lnSpc>
                <a:spcPts val="3808"/>
              </a:lnSpc>
              <a:buNone/>
            </a:pPr>
            <a:r>
              <a:rPr lang="en-US" sz="3400" b="1" dirty="0">
                <a:solidFill>
                  <a:srgbClr val="F1E8D9"/>
                </a:solidFill>
                <a:latin typeface="Cambria" pitchFamily="34" charset="0"/>
                <a:ea typeface="Cambria" pitchFamily="34" charset="-122"/>
                <a:cs typeface="Cambria" pitchFamily="34" charset="-120"/>
              </a:rPr>
              <a:t>The shared architecture</a:t>
            </a:r>
            <a:endParaRPr lang="en-US" sz="3400" dirty="0"/>
          </a:p>
        </p:txBody>
      </p:sp>
      <p:sp>
        <p:nvSpPr>
          <p:cNvPr id="4" name="Shape 2"/>
          <p:cNvSpPr/>
          <p:nvPr/>
        </p:nvSpPr>
        <p:spPr>
          <a:xfrm>
            <a:off x="594360" y="1874520"/>
            <a:ext cx="3456432" cy="3977640"/>
          </a:xfrm>
          <a:prstGeom prst="rect">
            <a:avLst/>
          </a:prstGeom>
          <a:solidFill>
            <a:srgbClr val="1C1613"/>
          </a:solidFill>
          <a:ln w="9525">
            <a:solidFill>
              <a:srgbClr val="3A2F26"/>
            </a:solidFill>
            <a:prstDash val="solid"/>
          </a:ln>
        </p:spPr>
      </p:sp>
      <p:sp>
        <p:nvSpPr>
          <p:cNvPr id="5" name="Shape 3"/>
          <p:cNvSpPr/>
          <p:nvPr/>
        </p:nvSpPr>
        <p:spPr>
          <a:xfrm>
            <a:off x="886968" y="2176272"/>
            <a:ext cx="384048" cy="384048"/>
          </a:xfrm>
          <a:prstGeom prst="ellipse">
            <a:avLst/>
          </a:prstGeom>
          <a:solidFill>
            <a:srgbClr val="110E0C"/>
          </a:solidFill>
          <a:ln w="12700">
            <a:solidFill>
              <a:srgbClr val="DDAC4E"/>
            </a:solidFill>
            <a:prstDash val="solid"/>
          </a:ln>
        </p:spPr>
      </p:sp>
      <p:sp>
        <p:nvSpPr>
          <p:cNvPr id="6" name="Text 4"/>
          <p:cNvSpPr txBox="1"/>
          <p:nvPr/>
        </p:nvSpPr>
        <p:spPr>
          <a:xfrm>
            <a:off x="886968" y="2176272"/>
            <a:ext cx="384048" cy="384048"/>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886968" y="269748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F1E8D9"/>
                </a:solidFill>
                <a:latin typeface="Cambria" pitchFamily="34" charset="0"/>
                <a:ea typeface="Cambria" pitchFamily="34" charset="-122"/>
                <a:cs typeface="Cambria" pitchFamily="34" charset="-120"/>
              </a:rPr>
              <a:t>Nobody speaks for himself</a:t>
            </a:r>
            <a:endParaRPr lang="en-US" sz="1700" dirty="0"/>
          </a:p>
        </p:txBody>
      </p:sp>
      <p:sp>
        <p:nvSpPr>
          <p:cNvPr id="8" name="Text 6"/>
          <p:cNvSpPr txBox="1"/>
          <p:nvPr/>
        </p:nvSpPr>
        <p:spPr>
          <a:xfrm>
            <a:off x="886968" y="3456432"/>
            <a:ext cx="2871216" cy="219456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China hires a 媒婆 — a matchmaker, always called "granny," because marriage belongs to the yin side. Kenya appoints a mũthuuri wa kiama, an elder spokesman. At a rũracio the groom may not address his in-laws at all. He whispers.</a:t>
            </a:r>
            <a:endParaRPr lang="en-US" sz="1200" dirty="0"/>
          </a:p>
        </p:txBody>
      </p:sp>
      <p:sp>
        <p:nvSpPr>
          <p:cNvPr id="9" name="Shape 7"/>
          <p:cNvSpPr/>
          <p:nvPr/>
        </p:nvSpPr>
        <p:spPr>
          <a:xfrm>
            <a:off x="4370832" y="1874520"/>
            <a:ext cx="3456432" cy="3977640"/>
          </a:xfrm>
          <a:prstGeom prst="rect">
            <a:avLst/>
          </a:prstGeom>
          <a:solidFill>
            <a:srgbClr val="1C1613"/>
          </a:solidFill>
          <a:ln w="9525">
            <a:solidFill>
              <a:srgbClr val="3A2F26"/>
            </a:solidFill>
            <a:prstDash val="solid"/>
          </a:ln>
        </p:spPr>
      </p:sp>
      <p:sp>
        <p:nvSpPr>
          <p:cNvPr id="10" name="Shape 8"/>
          <p:cNvSpPr/>
          <p:nvPr/>
        </p:nvSpPr>
        <p:spPr>
          <a:xfrm>
            <a:off x="4663440" y="2176272"/>
            <a:ext cx="384048" cy="384048"/>
          </a:xfrm>
          <a:prstGeom prst="ellipse">
            <a:avLst/>
          </a:prstGeom>
          <a:solidFill>
            <a:srgbClr val="110E0C"/>
          </a:solidFill>
          <a:ln w="12700">
            <a:solidFill>
              <a:srgbClr val="DDAC4E"/>
            </a:solidFill>
            <a:prstDash val="solid"/>
          </a:ln>
        </p:spPr>
      </p:sp>
      <p:sp>
        <p:nvSpPr>
          <p:cNvPr id="11" name="Text 9"/>
          <p:cNvSpPr txBox="1"/>
          <p:nvPr/>
        </p:nvSpPr>
        <p:spPr>
          <a:xfrm>
            <a:off x="4663440" y="2176272"/>
            <a:ext cx="384048" cy="384048"/>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4663440" y="269748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F1E8D9"/>
                </a:solidFill>
                <a:latin typeface="Cambria" pitchFamily="34" charset="0"/>
                <a:ea typeface="Cambria" pitchFamily="34" charset="-122"/>
                <a:cs typeface="Cambria" pitchFamily="34" charset="-120"/>
              </a:rPr>
              <a:t>The ancestors vote first</a:t>
            </a:r>
            <a:endParaRPr lang="en-US" sz="1700" dirty="0"/>
          </a:p>
        </p:txBody>
      </p:sp>
      <p:sp>
        <p:nvSpPr>
          <p:cNvPr id="13" name="Text 11"/>
          <p:cNvSpPr txBox="1"/>
          <p:nvPr/>
        </p:nvSpPr>
        <p:spPr>
          <a:xfrm>
            <a:off x="4663440" y="3456432"/>
            <a:ext cx="2871216" cy="219456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The groom's side asks for her 八字, her birth hour, and lays it on the ancestral altar for three days to see if the dead object. A Kikuyu delegation quietly investigates her lineage for shared blood — mũgiro. Compatibility is checked upward.</a:t>
            </a:r>
            <a:endParaRPr lang="en-US" sz="1200" dirty="0"/>
          </a:p>
        </p:txBody>
      </p:sp>
      <p:sp>
        <p:nvSpPr>
          <p:cNvPr id="14" name="Shape 12"/>
          <p:cNvSpPr/>
          <p:nvPr/>
        </p:nvSpPr>
        <p:spPr>
          <a:xfrm>
            <a:off x="8147304" y="1874520"/>
            <a:ext cx="3456432" cy="3977640"/>
          </a:xfrm>
          <a:prstGeom prst="rect">
            <a:avLst/>
          </a:prstGeom>
          <a:solidFill>
            <a:srgbClr val="1C1613"/>
          </a:solidFill>
          <a:ln w="9525">
            <a:solidFill>
              <a:srgbClr val="3A2F26"/>
            </a:solidFill>
            <a:prstDash val="solid"/>
          </a:ln>
        </p:spPr>
      </p:sp>
      <p:sp>
        <p:nvSpPr>
          <p:cNvPr id="15" name="Shape 13"/>
          <p:cNvSpPr/>
          <p:nvPr/>
        </p:nvSpPr>
        <p:spPr>
          <a:xfrm>
            <a:off x="8439912" y="2176272"/>
            <a:ext cx="384048" cy="384048"/>
          </a:xfrm>
          <a:prstGeom prst="ellipse">
            <a:avLst/>
          </a:prstGeom>
          <a:solidFill>
            <a:srgbClr val="110E0C"/>
          </a:solidFill>
          <a:ln w="12700">
            <a:solidFill>
              <a:srgbClr val="DDAC4E"/>
            </a:solidFill>
            <a:prstDash val="solid"/>
          </a:ln>
        </p:spPr>
      </p:sp>
      <p:sp>
        <p:nvSpPr>
          <p:cNvPr id="16" name="Text 14"/>
          <p:cNvSpPr txBox="1"/>
          <p:nvPr/>
        </p:nvSpPr>
        <p:spPr>
          <a:xfrm>
            <a:off x="8439912" y="2176272"/>
            <a:ext cx="384048" cy="384048"/>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8439912" y="269748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F1E8D9"/>
                </a:solidFill>
                <a:latin typeface="Cambria" pitchFamily="34" charset="0"/>
                <a:ea typeface="Cambria" pitchFamily="34" charset="-122"/>
                <a:cs typeface="Cambria" pitchFamily="34" charset="-120"/>
              </a:rPr>
              <a:t>The bill is never settled</a:t>
            </a:r>
            <a:endParaRPr lang="en-US" sz="1700" dirty="0"/>
          </a:p>
        </p:txBody>
      </p:sp>
      <p:sp>
        <p:nvSpPr>
          <p:cNvPr id="18" name="Text 16"/>
          <p:cNvSpPr txBox="1"/>
          <p:nvPr/>
        </p:nvSpPr>
        <p:spPr>
          <a:xfrm>
            <a:off x="8439912" y="3456432"/>
            <a:ext cx="2871216" cy="219456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A Kikuyu groom pays about fifteen goats' worth and owes the rest for life; clear it and you sever the tie. A Chinese bride's family returns a portion of the gifts, because keeping all of it looks like selling a daughter.</a:t>
            </a:r>
            <a:endParaRPr lang="en-US" sz="1200" dirty="0"/>
          </a:p>
        </p:txBody>
      </p:sp>
      <p:sp>
        <p:nvSpPr>
          <p:cNvPr id="19" name="Text 17"/>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THESIS</a:t>
            </a:r>
            <a:endParaRPr lang="en-US" sz="850" dirty="0"/>
          </a:p>
        </p:txBody>
      </p:sp>
      <p:sp>
        <p:nvSpPr>
          <p:cNvPr id="20" name="Text 18"/>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2331720"/>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PART ONE</a:t>
            </a:r>
            <a:endParaRPr lang="en-US" sz="1050" dirty="0"/>
          </a:p>
        </p:txBody>
      </p:sp>
      <p:sp>
        <p:nvSpPr>
          <p:cNvPr id="3" name="Text 1"/>
          <p:cNvSpPr txBox="1"/>
          <p:nvPr/>
        </p:nvSpPr>
        <p:spPr>
          <a:xfrm>
            <a:off x="594360" y="2697480"/>
            <a:ext cx="10058400" cy="1371600"/>
          </a:xfrm>
          <a:prstGeom prst="rect">
            <a:avLst/>
          </a:prstGeom>
          <a:noFill/>
          <a:ln/>
        </p:spPr>
        <p:txBody>
          <a:bodyPr wrap="square" lIns="0" tIns="0" rIns="0" bIns="0" rtlCol="0" anchor="ctr"/>
          <a:lstStyle/>
          <a:p>
            <a:pPr indent="0" marL="0">
              <a:buNone/>
            </a:pPr>
            <a:r>
              <a:rPr lang="en-US" sz="5400" b="1" dirty="0">
                <a:solidFill>
                  <a:srgbClr val="F1E8D9"/>
                </a:solidFill>
                <a:latin typeface="Cambria" pitchFamily="34" charset="0"/>
                <a:ea typeface="Cambria" pitchFamily="34" charset="-122"/>
                <a:cs typeface="Cambria" pitchFamily="34" charset="-120"/>
              </a:rPr>
              <a:t>The Spine</a:t>
            </a:r>
            <a:endParaRPr lang="en-US" sz="5400" dirty="0"/>
          </a:p>
        </p:txBody>
      </p:sp>
      <p:sp>
        <p:nvSpPr>
          <p:cNvPr id="4" name="Text 2"/>
          <p:cNvSpPr txBox="1"/>
          <p:nvPr/>
        </p:nvSpPr>
        <p:spPr>
          <a:xfrm>
            <a:off x="594360" y="4160520"/>
            <a:ext cx="7772400" cy="82296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Run the two ceremonies side by side and they fall into step. Eight matched stages — numbered in Chinese, and in Gĩkũyũ.</a:t>
            </a:r>
            <a:endParaRPr lang="en-US" sz="1500" dirty="0"/>
          </a:p>
        </p:txBody>
      </p:sp>
      <p:sp>
        <p:nvSpPr>
          <p:cNvPr id="5"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a:t>
            </a:r>
            <a:endParaRPr lang="en-US" sz="850" dirty="0"/>
          </a:p>
        </p:txBody>
      </p:sp>
      <p:sp>
        <p:nvSpPr>
          <p:cNvPr id="6"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ONE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納采 · 問名</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NÀCǍI · WÈNMÍNG</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A matchmaker carries the proposal, then returns for her bāzì — year, month, day and hour of birth. An astrologer reads it against his. If the charts conflict, the belief is that disaster follows for one of the families, and it stops there. Nobody has met.</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Kũmenya Mũcii</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"KNOWING THE HOME"</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Five to ten of his people arrive with njohi ya njurio, beer for asking. The spokesman delivers a fixed line: we have seen one of your sheep, and we would like to take her to our homestead. Calling the bride a sheep is a compliment — sheep are the most prized livestock. No price may be named.</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一</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Enquiry</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ĨMWE</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1</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TWO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納吉</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NÀJÍ · SENDING THE GOOD OMEN</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The bāzì sits on the ancestral altar. Nothing ill may happen in the house while it is there — a quarrel, a broken dish, a death is a veto. Only when the ancestors stay silent does word go out that the match is on. After this, withdrawal is scandal.</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Kũhanda Ithĩgĩ</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"PLANTING THE BRANCH"</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A branch is planted at her homestead — the Kikuyu answer to the Maasai spear outside a door. She is booked; no other suitor may approach. He leaves a mwati (ewe) and a harika (young he-goat), emphatically not bride price but a deposit. Breaking off now is the gravest case in the culture.</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二</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Claim</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IGĨRĨ</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2</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THREE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納徵 · 過大禮</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NÀZHĒNG · GUÒ DÀ LǏ</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Betrothal gifts, one to three months out, on a date set by a feng shui master. Everything in even numbers, because even means paired. Peanuts and dates travel together — "date" puns on early, "peanut" on birth. Teochew families send the 四點金, four gold pieces named after a four-cornered roof: a blissful union inside a secure house.</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Rũracio</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THE DOWRY NEGOTIATION</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Fifty to three hundred guests, all day. Two ngoima — rams that must be visibly fat, because a thin goat is a public insult. Her aunts lock the gate and charge a fee, wauri, split among the women and pointedly not with her mother. Only elders speak. The quote comes in goats, honey and brew.</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三</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Price</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ITHATŨ</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3</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FOUR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請期</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QǏNGQĪ · BEGGING THE DATE</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Even months and days preferred. The seventh lunar month is out — it belongs to the hungry ghosts. Four is avoided everywhere (sì, death); eight and nine are chased. The character 婚 itself contains 昏, dusk: weddings were held at nightfall, where yang crosses into yin.</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Kũnyua Njohi</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THE FATHER'S CALABASH</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Mid-negotiation her father lifts the calabash and asks his daughter a question that sounds domestic and is not: "Shall I drink this beer?" It means: do you accept this man. If she declines it ends there — a consent clause that long predates any marriage statute. If she assents he drinks, and the compound detonates in ngemi, ululation.</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四</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Consent</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INYA</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4</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FIVE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上頭 · 安床</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COMBING THE HAIR · SETTING THE BED</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The night before, separately, each washes in water steeped with pomelo leaves and sits before an open window with the moon in view. A woman of good fortune — living husband, children, grandchildren — draws the comb four times: to the end of our days; a hundred years of harmony; a hall full of children; white hair level with the eyebrows.</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Kũhũra Hoti</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KNOCKING · HIDING THE KNIVES</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His women sing outside the door. Her women sing back. The call-and-response continues until the door opens and a gift crosses the threshold. Inside, her sister has hidden every knife needed for the slaughter — kũmũthaitha — and their ransom is negotiated on the spot, loudly, for laughs.</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五</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Eve</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ITHANO</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5</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SIX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堵門遊戲</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DǓMÉN YÓUXÌ · BLOCKING THE DOOR</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The bridesmaids hold the bedroom and set a toll — red envelopes in multiples of eight (wealth) or nine (long-lasting). Then push-ups, love poems, cross-dressing, and 酸甜苦辣: sour, sweet, bitter, spicy eaten in sequence, enacting the idiom for the joys and sorrows of a shared life. Last, the hidden red shoes — she waits barefoot until he finds them.</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Gũcagũra Mũka Wake</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"CHOOSING HIS WIFE"</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A dozen women are led out wrapped head to toe in lessos, faces covered, deliberately matched for height and build. He must identify his bride. Wrong guess: a goat, payable immediately. Then go again. One delicious wrinkle — the leso is Swahili, borrowed from the coast. The most photographed prop at a rũracio is an import.</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六</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Door</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ĨTANDATŨ</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6</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SEVEN OF EIGHT · THE POINT OF NO RETURN</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敬茶</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JÌNGCHÁ · THE TEA CEREMONY</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The couple kneel and offer tea with both hands, in descending order of seniority. The cup holds lotus seeds and red dates, whose names pun on bearing sons early. The elders drink and hand back gold — this is when the dragon-and-phoenix bangles go onto her wrists. Three bows: heaven, parents, each other. The couple come last.</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Gũtinia Kĩande</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CUTTING THE SHOULDER · NGURARIO</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An unblemished ram — one colour, no scars, no broken horn — is inspected by the elders and slaughtered. The shoulder joint is laid before the couple. She holds the bone steady; he must cut it without breaking it. They feed each other from it, then from the ram’s ears, so that from today they always listen.</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七</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Seal</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MŨGWANJA</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7</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STAGE EIGHT OF EIGHT</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歸寧</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GUĪNÍNG · THE THIRD-DAY RETURN</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On the third day the couple return to her parents' house for the smaller of the two banquets, carrying a whole roast pig. Her family keeps the body and sends back the head and the legs. The bluntest custom in this deck: historically, a flawless roast pig was an assertion about the bride's virginity.</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Itara</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THE SHELF ABOVE THE DOOR</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Her mother formally hands her to his mother, the two women acknowledging each other as joint guardians of her wellbeing. Then he grants her the itara — the storage shelf only trusted family could reach. It means: you are not a guest here, the house is yours. Modern flats have no itara, so families designate a kitchen cupboard and mean the same thing.</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八</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Return</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INYANYA</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SPINE · 8</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2331720"/>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PART TWO</a:t>
            </a:r>
            <a:endParaRPr lang="en-US" sz="1050" dirty="0"/>
          </a:p>
        </p:txBody>
      </p:sp>
      <p:sp>
        <p:nvSpPr>
          <p:cNvPr id="3" name="Text 1"/>
          <p:cNvSpPr txBox="1"/>
          <p:nvPr/>
        </p:nvSpPr>
        <p:spPr>
          <a:xfrm>
            <a:off x="594360" y="2697480"/>
            <a:ext cx="10058400" cy="1371600"/>
          </a:xfrm>
          <a:prstGeom prst="rect">
            <a:avLst/>
          </a:prstGeom>
          <a:noFill/>
          <a:ln/>
        </p:spPr>
        <p:txBody>
          <a:bodyPr wrap="square" lIns="0" tIns="0" rIns="0" bIns="0" rtlCol="0" anchor="ctr"/>
          <a:lstStyle/>
          <a:p>
            <a:pPr indent="0" marL="0">
              <a:buNone/>
            </a:pPr>
            <a:r>
              <a:rPr lang="en-US" sz="5400" b="1" dirty="0">
                <a:solidFill>
                  <a:srgbClr val="F1E8D9"/>
                </a:solidFill>
                <a:latin typeface="Cambria" pitchFamily="34" charset="0"/>
                <a:ea typeface="Cambria" pitchFamily="34" charset="-122"/>
                <a:cs typeface="Cambria" pitchFamily="34" charset="-120"/>
              </a:rPr>
              <a:t>The Ledger</a:t>
            </a:r>
            <a:endParaRPr lang="en-US" sz="5400" dirty="0"/>
          </a:p>
        </p:txBody>
      </p:sp>
      <p:sp>
        <p:nvSpPr>
          <p:cNvPr id="4" name="Text 2"/>
          <p:cNvSpPr txBox="1"/>
          <p:nvPr/>
        </p:nvSpPr>
        <p:spPr>
          <a:xfrm>
            <a:off x="594360" y="4160520"/>
            <a:ext cx="7772400" cy="82296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What a rũracio actually costs, and why it is engineered never to end.</a:t>
            </a:r>
            <a:endParaRPr lang="en-US" sz="1500" dirty="0"/>
          </a:p>
        </p:txBody>
      </p:sp>
      <p:sp>
        <p:nvSpPr>
          <p:cNvPr id="5"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LEDGER</a:t>
            </a:r>
            <a:endParaRPr lang="en-US" sz="850" dirty="0"/>
          </a:p>
        </p:txBody>
      </p:sp>
      <p:sp>
        <p:nvSpPr>
          <p:cNvPr id="6"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THE OPENING QUOTE</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Ninety-nine goats — and the fifteen that move</a:t>
            </a:r>
            <a:endParaRPr lang="en-US" sz="3300" dirty="0"/>
          </a:p>
        </p:txBody>
      </p:sp>
      <p:sp>
        <p:nvSpPr>
          <p:cNvPr id="4" name="Text 2"/>
          <p:cNvSpPr txBox="1"/>
          <p:nvPr/>
        </p:nvSpPr>
        <p:spPr>
          <a:xfrm>
            <a:off x="594360" y="1600200"/>
            <a:ext cx="10241280" cy="640080"/>
          </a:xfrm>
          <a:prstGeom prst="rect">
            <a:avLst/>
          </a:prstGeom>
          <a:noFill/>
          <a:ln/>
        </p:spPr>
        <p:txBody>
          <a:bodyPr wrap="square" lIns="0" tIns="0" rIns="0" bIns="0" rtlCol="0" anchor="t"/>
          <a:lstStyle/>
          <a:p>
            <a:pPr indent="0" marL="0">
              <a:lnSpc>
                <a:spcPts val="2100"/>
              </a:lnSpc>
              <a:buNone/>
            </a:pPr>
            <a:r>
              <a:rPr lang="en-US" sz="1400" dirty="0">
                <a:solidFill>
                  <a:srgbClr val="A99A8F"/>
                </a:solidFill>
                <a:latin typeface="Calibri" pitchFamily="34" charset="0"/>
                <a:ea typeface="Calibri" pitchFamily="34" charset="-122"/>
                <a:cs typeface="Calibri" pitchFamily="34" charset="-120"/>
              </a:rPr>
              <a:t>Nine is the sacred number, after the nine daughters of Gĩkũyũ and Mũmbi; ten is unlucky, so even a tenth is counted among "the nine full ones." The shaded block is what actually changes hands on the day.</a:t>
            </a:r>
            <a:endParaRPr lang="en-US" sz="1400" dirty="0"/>
          </a:p>
        </p:txBody>
      </p:sp>
      <p:sp>
        <p:nvSpPr>
          <p:cNvPr id="5" name="Shape 3"/>
          <p:cNvSpPr/>
          <p:nvPr/>
        </p:nvSpPr>
        <p:spPr>
          <a:xfrm>
            <a:off x="594360" y="3566160"/>
            <a:ext cx="11002975" cy="18288"/>
          </a:xfrm>
          <a:prstGeom prst="rect">
            <a:avLst/>
          </a:prstGeom>
          <a:solidFill>
            <a:srgbClr val="3A2F26"/>
          </a:solidFill>
          <a:ln w="12700">
            <a:solidFill>
              <a:srgbClr val="3A2F26"/>
            </a:solidFill>
            <a:prstDash val="solid"/>
          </a:ln>
        </p:spPr>
      </p:sp>
      <p:sp>
        <p:nvSpPr>
          <p:cNvPr id="6" name="Shape 4"/>
          <p:cNvSpPr/>
          <p:nvPr/>
        </p:nvSpPr>
        <p:spPr>
          <a:xfrm>
            <a:off x="594360" y="3483864"/>
            <a:ext cx="1650446" cy="182880"/>
          </a:xfrm>
          <a:prstGeom prst="rect">
            <a:avLst/>
          </a:prstGeom>
          <a:solidFill>
            <a:srgbClr val="C9803F">
              <a:alpha val="45000"/>
            </a:srgbClr>
          </a:solidFill>
          <a:ln w="12700">
            <a:solidFill>
              <a:srgbClr val="333333"/>
            </a:solidFill>
            <a:prstDash val="solid"/>
          </a:ln>
        </p:spPr>
      </p:sp>
      <p:sp>
        <p:nvSpPr>
          <p:cNvPr id="7" name="Shape 5"/>
          <p:cNvSpPr/>
          <p:nvPr/>
        </p:nvSpPr>
        <p:spPr>
          <a:xfrm>
            <a:off x="2244806" y="3291840"/>
            <a:ext cx="10973" cy="566928"/>
          </a:xfrm>
          <a:prstGeom prst="rect">
            <a:avLst/>
          </a:prstGeom>
          <a:solidFill>
            <a:srgbClr val="F1E8D9"/>
          </a:solidFill>
          <a:ln w="12700">
            <a:solidFill>
              <a:srgbClr val="333333"/>
            </a:solidFill>
            <a:prstDash val="solid"/>
          </a:ln>
        </p:spPr>
      </p:sp>
      <p:sp>
        <p:nvSpPr>
          <p:cNvPr id="8" name="Text 6"/>
          <p:cNvSpPr txBox="1"/>
          <p:nvPr/>
        </p:nvSpPr>
        <p:spPr>
          <a:xfrm>
            <a:off x="1193246" y="2962656"/>
            <a:ext cx="2103120" cy="274320"/>
          </a:xfrm>
          <a:prstGeom prst="rect">
            <a:avLst/>
          </a:prstGeom>
          <a:noFill/>
          <a:ln/>
        </p:spPr>
        <p:txBody>
          <a:bodyPr wrap="square" lIns="0" tIns="0" rIns="0" bIns="0" rtlCol="0" anchor="ctr"/>
          <a:lstStyle/>
          <a:p>
            <a:pPr algn="ctr" indent="0" marL="0">
              <a:buNone/>
            </a:pPr>
            <a:r>
              <a:rPr lang="en-US" sz="1200" b="1" dirty="0">
                <a:solidFill>
                  <a:srgbClr val="F1E8D9"/>
                </a:solidFill>
                <a:latin typeface="Calibri" pitchFamily="34" charset="0"/>
                <a:ea typeface="Calibri" pitchFamily="34" charset="-122"/>
                <a:cs typeface="Calibri" pitchFamily="34" charset="-120"/>
              </a:rPr>
              <a:t>≈ 15 goats</a:t>
            </a:r>
            <a:endParaRPr lang="en-US" sz="1200" dirty="0"/>
          </a:p>
        </p:txBody>
      </p:sp>
      <p:sp>
        <p:nvSpPr>
          <p:cNvPr id="9" name="Text 7"/>
          <p:cNvSpPr txBox="1"/>
          <p:nvPr/>
        </p:nvSpPr>
        <p:spPr>
          <a:xfrm>
            <a:off x="1193246" y="3913632"/>
            <a:ext cx="2103120" cy="237744"/>
          </a:xfrm>
          <a:prstGeom prst="rect">
            <a:avLst/>
          </a:prstGeom>
          <a:noFill/>
          <a:ln/>
        </p:spPr>
        <p:txBody>
          <a:bodyPr wrap="square" lIns="0" tIns="0" rIns="0" bIns="0" rtlCol="0" anchor="ctr"/>
          <a:lstStyle/>
          <a:p>
            <a:pPr algn="ctr" indent="0" marL="0">
              <a:buNone/>
            </a:pPr>
            <a:r>
              <a:rPr lang="en-US" sz="850" b="1" spc="120" kern="0" dirty="0">
                <a:solidFill>
                  <a:srgbClr val="958A81"/>
                </a:solidFill>
                <a:latin typeface="Calibri" pitchFamily="34" charset="0"/>
                <a:ea typeface="Calibri" pitchFamily="34" charset="-122"/>
                <a:cs typeface="Calibri" pitchFamily="34" charset="-120"/>
              </a:rPr>
              <a:t>PAID ON THE DAY</a:t>
            </a:r>
            <a:endParaRPr lang="en-US" sz="850" dirty="0"/>
          </a:p>
        </p:txBody>
      </p:sp>
      <p:sp>
        <p:nvSpPr>
          <p:cNvPr id="10" name="Shape 8"/>
          <p:cNvSpPr/>
          <p:nvPr/>
        </p:nvSpPr>
        <p:spPr>
          <a:xfrm>
            <a:off x="3620178" y="3291840"/>
            <a:ext cx="10973" cy="566928"/>
          </a:xfrm>
          <a:prstGeom prst="rect">
            <a:avLst/>
          </a:prstGeom>
          <a:solidFill>
            <a:srgbClr val="C9803F"/>
          </a:solidFill>
          <a:ln w="12700">
            <a:solidFill>
              <a:srgbClr val="333333"/>
            </a:solidFill>
            <a:prstDash val="solid"/>
          </a:ln>
        </p:spPr>
      </p:sp>
      <p:sp>
        <p:nvSpPr>
          <p:cNvPr id="11" name="Text 9"/>
          <p:cNvSpPr txBox="1"/>
          <p:nvPr/>
        </p:nvSpPr>
        <p:spPr>
          <a:xfrm>
            <a:off x="2568618" y="2962656"/>
            <a:ext cx="2103120" cy="274320"/>
          </a:xfrm>
          <a:prstGeom prst="rect">
            <a:avLst/>
          </a:prstGeom>
          <a:noFill/>
          <a:ln/>
        </p:spPr>
        <p:txBody>
          <a:bodyPr wrap="square" lIns="0" tIns="0" rIns="0" bIns="0" rtlCol="0" anchor="ctr"/>
          <a:lstStyle/>
          <a:p>
            <a:pPr algn="ctr" indent="0" marL="0">
              <a:buNone/>
            </a:pPr>
            <a:r>
              <a:rPr lang="en-US" sz="1200" b="1" dirty="0">
                <a:solidFill>
                  <a:srgbClr val="C9803F"/>
                </a:solidFill>
                <a:latin typeface="Calibri" pitchFamily="34" charset="0"/>
                <a:ea typeface="Calibri" pitchFamily="34" charset="-122"/>
                <a:cs typeface="Calibri" pitchFamily="34" charset="-120"/>
              </a:rPr>
              <a:t>KSh 495,000</a:t>
            </a:r>
            <a:endParaRPr lang="en-US" sz="1200" dirty="0"/>
          </a:p>
        </p:txBody>
      </p:sp>
      <p:sp>
        <p:nvSpPr>
          <p:cNvPr id="12" name="Text 10"/>
          <p:cNvSpPr txBox="1"/>
          <p:nvPr/>
        </p:nvSpPr>
        <p:spPr>
          <a:xfrm>
            <a:off x="2568618" y="3913632"/>
            <a:ext cx="2103120" cy="237744"/>
          </a:xfrm>
          <a:prstGeom prst="rect">
            <a:avLst/>
          </a:prstGeom>
          <a:noFill/>
          <a:ln/>
        </p:spPr>
        <p:txBody>
          <a:bodyPr wrap="square" lIns="0" tIns="0" rIns="0" bIns="0" rtlCol="0" anchor="ctr"/>
          <a:lstStyle/>
          <a:p>
            <a:pPr algn="ctr" indent="0" marL="0">
              <a:buNone/>
            </a:pPr>
            <a:r>
              <a:rPr lang="en-US" sz="850" b="1" spc="120" kern="0" dirty="0">
                <a:solidFill>
                  <a:srgbClr val="958A81"/>
                </a:solidFill>
                <a:latin typeface="Calibri" pitchFamily="34" charset="0"/>
                <a:ea typeface="Calibri" pitchFamily="34" charset="-122"/>
                <a:cs typeface="Calibri" pitchFamily="34" charset="-120"/>
              </a:rPr>
              <a:t>99 × 5,000</a:t>
            </a:r>
            <a:endParaRPr lang="en-US" sz="850" dirty="0"/>
          </a:p>
        </p:txBody>
      </p:sp>
      <p:sp>
        <p:nvSpPr>
          <p:cNvPr id="13" name="Shape 11"/>
          <p:cNvSpPr/>
          <p:nvPr/>
        </p:nvSpPr>
        <p:spPr>
          <a:xfrm>
            <a:off x="6645996" y="3291840"/>
            <a:ext cx="10973" cy="566928"/>
          </a:xfrm>
          <a:prstGeom prst="rect">
            <a:avLst/>
          </a:prstGeom>
          <a:solidFill>
            <a:srgbClr val="C9803F"/>
          </a:solidFill>
          <a:ln w="12700">
            <a:solidFill>
              <a:srgbClr val="333333"/>
            </a:solidFill>
            <a:prstDash val="solid"/>
          </a:ln>
        </p:spPr>
      </p:sp>
      <p:sp>
        <p:nvSpPr>
          <p:cNvPr id="14" name="Text 12"/>
          <p:cNvSpPr txBox="1"/>
          <p:nvPr/>
        </p:nvSpPr>
        <p:spPr>
          <a:xfrm>
            <a:off x="5594436" y="2962656"/>
            <a:ext cx="2103120" cy="274320"/>
          </a:xfrm>
          <a:prstGeom prst="rect">
            <a:avLst/>
          </a:prstGeom>
          <a:noFill/>
          <a:ln/>
        </p:spPr>
        <p:txBody>
          <a:bodyPr wrap="square" lIns="0" tIns="0" rIns="0" bIns="0" rtlCol="0" anchor="ctr"/>
          <a:lstStyle/>
          <a:p>
            <a:pPr algn="ctr" indent="0" marL="0">
              <a:buNone/>
            </a:pPr>
            <a:r>
              <a:rPr lang="en-US" sz="1200" b="1" dirty="0">
                <a:solidFill>
                  <a:srgbClr val="C9803F"/>
                </a:solidFill>
                <a:latin typeface="Calibri" pitchFamily="34" charset="0"/>
                <a:ea typeface="Calibri" pitchFamily="34" charset="-122"/>
                <a:cs typeface="Calibri" pitchFamily="34" charset="-120"/>
              </a:rPr>
              <a:t>KSh 990,000</a:t>
            </a:r>
            <a:endParaRPr lang="en-US" sz="1200" dirty="0"/>
          </a:p>
        </p:txBody>
      </p:sp>
      <p:sp>
        <p:nvSpPr>
          <p:cNvPr id="15" name="Text 13"/>
          <p:cNvSpPr txBox="1"/>
          <p:nvPr/>
        </p:nvSpPr>
        <p:spPr>
          <a:xfrm>
            <a:off x="5594436" y="3913632"/>
            <a:ext cx="2103120" cy="237744"/>
          </a:xfrm>
          <a:prstGeom prst="rect">
            <a:avLst/>
          </a:prstGeom>
          <a:noFill/>
          <a:ln/>
        </p:spPr>
        <p:txBody>
          <a:bodyPr wrap="square" lIns="0" tIns="0" rIns="0" bIns="0" rtlCol="0" anchor="ctr"/>
          <a:lstStyle/>
          <a:p>
            <a:pPr algn="ctr" indent="0" marL="0">
              <a:buNone/>
            </a:pPr>
            <a:r>
              <a:rPr lang="en-US" sz="850" b="1" spc="120" kern="0" dirty="0">
                <a:solidFill>
                  <a:srgbClr val="958A81"/>
                </a:solidFill>
                <a:latin typeface="Calibri" pitchFamily="34" charset="0"/>
                <a:ea typeface="Calibri" pitchFamily="34" charset="-122"/>
                <a:cs typeface="Calibri" pitchFamily="34" charset="-120"/>
              </a:rPr>
              <a:t>99 × 10,000</a:t>
            </a:r>
            <a:endParaRPr lang="en-US" sz="850" dirty="0"/>
          </a:p>
        </p:txBody>
      </p:sp>
      <p:sp>
        <p:nvSpPr>
          <p:cNvPr id="16" name="Shape 14"/>
          <p:cNvSpPr/>
          <p:nvPr/>
        </p:nvSpPr>
        <p:spPr>
          <a:xfrm>
            <a:off x="11487305" y="3291840"/>
            <a:ext cx="10973" cy="566928"/>
          </a:xfrm>
          <a:prstGeom prst="rect">
            <a:avLst/>
          </a:prstGeom>
          <a:solidFill>
            <a:srgbClr val="C9803F"/>
          </a:solidFill>
          <a:ln w="12700">
            <a:solidFill>
              <a:srgbClr val="333333"/>
            </a:solidFill>
            <a:prstDash val="solid"/>
          </a:ln>
        </p:spPr>
      </p:sp>
      <p:sp>
        <p:nvSpPr>
          <p:cNvPr id="17" name="Text 15"/>
          <p:cNvSpPr txBox="1"/>
          <p:nvPr/>
        </p:nvSpPr>
        <p:spPr>
          <a:xfrm>
            <a:off x="9384185" y="2962656"/>
            <a:ext cx="2103120" cy="274320"/>
          </a:xfrm>
          <a:prstGeom prst="rect">
            <a:avLst/>
          </a:prstGeom>
          <a:noFill/>
          <a:ln/>
        </p:spPr>
        <p:txBody>
          <a:bodyPr wrap="square" lIns="0" tIns="0" rIns="0" bIns="0" rtlCol="0" anchor="ctr"/>
          <a:lstStyle/>
          <a:p>
            <a:pPr algn="r" indent="0" marL="0">
              <a:buNone/>
            </a:pPr>
            <a:r>
              <a:rPr lang="en-US" sz="1200" b="1" dirty="0">
                <a:solidFill>
                  <a:srgbClr val="C9803F"/>
                </a:solidFill>
                <a:latin typeface="Calibri" pitchFamily="34" charset="0"/>
                <a:ea typeface="Calibri" pitchFamily="34" charset="-122"/>
                <a:cs typeface="Calibri" pitchFamily="34" charset="-120"/>
              </a:rPr>
              <a:t>KSh 1,782,000</a:t>
            </a:r>
            <a:endParaRPr lang="en-US" sz="1200" dirty="0"/>
          </a:p>
        </p:txBody>
      </p:sp>
      <p:sp>
        <p:nvSpPr>
          <p:cNvPr id="18" name="Text 16"/>
          <p:cNvSpPr txBox="1"/>
          <p:nvPr/>
        </p:nvSpPr>
        <p:spPr>
          <a:xfrm>
            <a:off x="9384185" y="3913632"/>
            <a:ext cx="2103120" cy="237744"/>
          </a:xfrm>
          <a:prstGeom prst="rect">
            <a:avLst/>
          </a:prstGeom>
          <a:noFill/>
          <a:ln/>
        </p:spPr>
        <p:txBody>
          <a:bodyPr wrap="square" lIns="0" tIns="0" rIns="0" bIns="0" rtlCol="0" anchor="ctr"/>
          <a:lstStyle/>
          <a:p>
            <a:pPr algn="r" indent="0" marL="0">
              <a:buNone/>
            </a:pPr>
            <a:r>
              <a:rPr lang="en-US" sz="850" b="1" spc="120" kern="0" dirty="0">
                <a:solidFill>
                  <a:srgbClr val="958A81"/>
                </a:solidFill>
                <a:latin typeface="Calibri" pitchFamily="34" charset="0"/>
                <a:ea typeface="Calibri" pitchFamily="34" charset="-122"/>
                <a:cs typeface="Calibri" pitchFamily="34" charset="-120"/>
              </a:rPr>
              <a:t>99 × 18,000</a:t>
            </a:r>
            <a:endParaRPr lang="en-US" sz="850" dirty="0"/>
          </a:p>
        </p:txBody>
      </p:sp>
      <p:sp>
        <p:nvSpPr>
          <p:cNvPr id="19" name="Text 17"/>
          <p:cNvSpPr txBox="1"/>
          <p:nvPr/>
        </p:nvSpPr>
        <p:spPr>
          <a:xfrm>
            <a:off x="594360" y="4709160"/>
            <a:ext cx="10241280" cy="1280160"/>
          </a:xfrm>
          <a:prstGeom prst="rect">
            <a:avLst/>
          </a:prstGeom>
          <a:noFill/>
          <a:ln/>
        </p:spPr>
        <p:txBody>
          <a:bodyPr wrap="square" lIns="0" tIns="0" rIns="0" bIns="0" rtlCol="0" anchor="t"/>
          <a:lstStyle/>
          <a:p>
            <a:pPr indent="0" marL="0">
              <a:lnSpc>
                <a:spcPts val="2100"/>
              </a:lnSpc>
              <a:buNone/>
            </a:pPr>
            <a:r>
              <a:rPr lang="en-US" sz="1400" dirty="0">
                <a:solidFill>
                  <a:srgbClr val="A99A8F"/>
                </a:solidFill>
                <a:latin typeface="Calibri" pitchFamily="34" charset="0"/>
                <a:ea typeface="Calibri" pitchFamily="34" charset="-122"/>
                <a:cs typeface="Calibri" pitchFamily="34" charset="-120"/>
              </a:rPr>
              <a:t>Everything to the right is a debt carried for life — paid down at Christmases, funerals and hospital bills, and if the husband dies owing, </a:t>
            </a:r>
            <a:pPr indent="0" marL="0">
              <a:lnSpc>
                <a:spcPts val="2100"/>
              </a:lnSpc>
              <a:buNone/>
            </a:pPr>
            <a:r>
              <a:rPr lang="en-US" sz="1400" b="1" dirty="0">
                <a:solidFill>
                  <a:srgbClr val="F1E8D9"/>
                </a:solidFill>
                <a:latin typeface="Calibri" pitchFamily="34" charset="0"/>
                <a:ea typeface="Calibri" pitchFamily="34" charset="-122"/>
                <a:cs typeface="Calibri" pitchFamily="34" charset="-120"/>
              </a:rPr>
              <a:t>inherited by his eldest son</a:t>
            </a:r>
            <a:pPr indent="0" marL="0">
              <a:lnSpc>
                <a:spcPts val="2100"/>
              </a:lnSpc>
              <a:buNone/>
            </a:pPr>
            <a:r>
              <a:rPr lang="en-US" sz="1400" dirty="0">
                <a:solidFill>
                  <a:srgbClr val="A99A8F"/>
                </a:solidFill>
                <a:latin typeface="Calibri" pitchFamily="34" charset="0"/>
                <a:ea typeface="Calibri" pitchFamily="34" charset="-122"/>
                <a:cs typeface="Calibri" pitchFamily="34" charset="-120"/>
              </a:rPr>
              <a:t>. Settling it in one go is not generous. It is an insult, because it closes the account and dissolves the reason the two families must keep speaking.</a:t>
            </a:r>
            <a:endParaRPr lang="en-US" sz="1400" dirty="0"/>
          </a:p>
        </p:txBody>
      </p:sp>
      <p:sp>
        <p:nvSpPr>
          <p:cNvPr id="20" name="Text 18"/>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LEDGER</a:t>
            </a:r>
            <a:endParaRPr lang="en-US" sz="850" dirty="0"/>
          </a:p>
        </p:txBody>
      </p:sp>
      <p:sp>
        <p:nvSpPr>
          <p:cNvPr id="21" name="Text 19"/>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BEFORE THE BRIDE PRICE EVEN STARTS · THOUSANDS OF KENYAN SHILLINGS</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One day, in shillings</a:t>
            </a:r>
            <a:endParaRPr lang="en-US" sz="3300" dirty="0"/>
          </a:p>
        </p:txBody>
      </p:sp>
      <p:graphicFrame>
        <p:nvGraphicFramePr>
          <p:cNvPr id="4" name="Chart 0" descr=""/>
          <p:cNvGraphicFramePr/>
          <p:nvPr/>
        </p:nvGraphicFramePr>
        <p:xfrm>
          <a:off x="594360" y="1600200"/>
          <a:ext cx="11002975"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94360" y="5440680"/>
            <a:ext cx="10241280" cy="457200"/>
          </a:xfrm>
          <a:prstGeom prst="rect">
            <a:avLst/>
          </a:prstGeom>
          <a:noFill/>
          <a:ln/>
        </p:spPr>
        <p:txBody>
          <a:bodyPr wrap="square" lIns="0" tIns="0" rIns="0" bIns="0" rtlCol="0" anchor="t"/>
          <a:lstStyle/>
          <a:p>
            <a:pPr indent="0" marL="0">
              <a:lnSpc>
                <a:spcPts val="1900"/>
              </a:lnSpc>
              <a:buNone/>
            </a:pPr>
            <a:r>
              <a:rPr lang="en-US" sz="1400" dirty="0">
                <a:solidFill>
                  <a:srgbClr val="A99A8F"/>
                </a:solidFill>
                <a:latin typeface="Calibri" pitchFamily="34" charset="0"/>
                <a:ea typeface="Calibri" pitchFamily="34" charset="-122"/>
                <a:cs typeface="Calibri" pitchFamily="34" charset="-120"/>
              </a:rPr>
              <a:t>Realistic outlay on the day: </a:t>
            </a:r>
            <a:pPr indent="0" marL="0">
              <a:lnSpc>
                <a:spcPts val="1900"/>
              </a:lnSpc>
              <a:buNone/>
            </a:pPr>
            <a:r>
              <a:rPr lang="en-US" sz="1400" b="1" dirty="0">
                <a:solidFill>
                  <a:srgbClr val="F1E8D9"/>
                </a:solidFill>
                <a:latin typeface="Calibri" pitchFamily="34" charset="0"/>
                <a:ea typeface="Calibri" pitchFamily="34" charset="-122"/>
                <a:cs typeface="Calibri" pitchFamily="34" charset="-120"/>
              </a:rPr>
              <a:t>KSh 200,000–500,000</a:t>
            </a:r>
            <a:pPr indent="0" marL="0">
              <a:lnSpc>
                <a:spcPts val="1900"/>
              </a:lnSpc>
              <a:buNone/>
            </a:pPr>
            <a:r>
              <a:rPr lang="en-US" sz="1400" dirty="0">
                <a:solidFill>
                  <a:srgbClr val="A99A8F"/>
                </a:solidFill>
                <a:latin typeface="Calibri" pitchFamily="34" charset="0"/>
                <a:ea typeface="Calibri" pitchFamily="34" charset="-122"/>
                <a:cs typeface="Calibri" pitchFamily="34" charset="-120"/>
              </a:rPr>
              <a:t> — and that is before the bride price proper.</a:t>
            </a:r>
            <a:endParaRPr lang="en-US" sz="1400" dirty="0"/>
          </a:p>
        </p:txBody>
      </p:sp>
      <p:sp>
        <p:nvSpPr>
          <p:cNvPr id="6"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THE LEDGER</a:t>
            </a:r>
            <a:endParaRPr lang="en-US" sz="850" dirty="0"/>
          </a:p>
        </p:txBody>
      </p:sp>
      <p:sp>
        <p:nvSpPr>
          <p:cNvPr id="7"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2331720"/>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PART THREE</a:t>
            </a:r>
            <a:endParaRPr lang="en-US" sz="1050" dirty="0"/>
          </a:p>
        </p:txBody>
      </p:sp>
      <p:sp>
        <p:nvSpPr>
          <p:cNvPr id="3" name="Text 1"/>
          <p:cNvSpPr txBox="1"/>
          <p:nvPr/>
        </p:nvSpPr>
        <p:spPr>
          <a:xfrm>
            <a:off x="594360" y="2697480"/>
            <a:ext cx="10058400" cy="1371600"/>
          </a:xfrm>
          <a:prstGeom prst="rect">
            <a:avLst/>
          </a:prstGeom>
          <a:noFill/>
          <a:ln/>
        </p:spPr>
        <p:txBody>
          <a:bodyPr wrap="square" lIns="0" tIns="0" rIns="0" bIns="0" rtlCol="0" anchor="ctr"/>
          <a:lstStyle/>
          <a:p>
            <a:pPr indent="0" marL="0">
              <a:buNone/>
            </a:pPr>
            <a:r>
              <a:rPr lang="en-US" sz="5400" b="1" dirty="0">
                <a:solidFill>
                  <a:srgbClr val="F1E8D9"/>
                </a:solidFill>
                <a:latin typeface="Cambria" pitchFamily="34" charset="0"/>
                <a:ea typeface="Cambria" pitchFamily="34" charset="-122"/>
                <a:cs typeface="Cambria" pitchFamily="34" charset="-120"/>
              </a:rPr>
              <a:t>One Bone, One Cup</a:t>
            </a:r>
            <a:endParaRPr lang="en-US" sz="5400" dirty="0"/>
          </a:p>
        </p:txBody>
      </p:sp>
      <p:sp>
        <p:nvSpPr>
          <p:cNvPr id="4" name="Text 2"/>
          <p:cNvSpPr txBox="1"/>
          <p:nvPr/>
        </p:nvSpPr>
        <p:spPr>
          <a:xfrm>
            <a:off x="594360" y="4160520"/>
            <a:ext cx="7772400" cy="82296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Every marriage system needs a moment after which the thing is done. Both of these put it in an object you can hold — and both explain the choice out loud.</a:t>
            </a:r>
            <a:endParaRPr lang="en-US" sz="1500" dirty="0"/>
          </a:p>
        </p:txBody>
      </p:sp>
      <p:sp>
        <p:nvSpPr>
          <p:cNvPr id="5"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ONE BONE, ONE CUP</a:t>
            </a:r>
            <a:endParaRPr lang="en-US" sz="850" dirty="0"/>
          </a:p>
        </p:txBody>
      </p:sp>
      <p:sp>
        <p:nvSpPr>
          <p:cNvPr id="6"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THE OBJECT THAT DOES THE WORK</a:t>
            </a:r>
            <a:endParaRPr lang="en-US" sz="1050" dirty="0"/>
          </a:p>
        </p:txBody>
      </p:sp>
      <p:sp>
        <p:nvSpPr>
          <p:cNvPr id="3" name="Shape 1"/>
          <p:cNvSpPr/>
          <p:nvPr/>
        </p:nvSpPr>
        <p:spPr>
          <a:xfrm>
            <a:off x="594360" y="841248"/>
            <a:ext cx="868680" cy="237744"/>
          </a:xfrm>
          <a:prstGeom prst="roundRect">
            <a:avLst>
              <a:gd name="adj" fmla="val 19231"/>
            </a:avLst>
          </a:prstGeom>
          <a:solidFill>
            <a:srgbClr val="110E0C"/>
          </a:solidFill>
          <a:ln w="9525">
            <a:solidFill>
              <a:srgbClr val="E5493A"/>
            </a:solidFill>
            <a:prstDash val="solid"/>
          </a:ln>
        </p:spPr>
      </p:sp>
      <p:sp>
        <p:nvSpPr>
          <p:cNvPr id="4" name="Text 2"/>
          <p:cNvSpPr txBox="1"/>
          <p:nvPr/>
        </p:nvSpPr>
        <p:spPr>
          <a:xfrm>
            <a:off x="594360"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E5493A"/>
                </a:solidFill>
                <a:latin typeface="Calibri" pitchFamily="34" charset="0"/>
                <a:ea typeface="Calibri" pitchFamily="34" charset="-122"/>
                <a:cs typeface="Calibri" pitchFamily="34" charset="-120"/>
              </a:rPr>
              <a:t>CHINA</a:t>
            </a:r>
            <a:endParaRPr lang="en-US" sz="850" dirty="0"/>
          </a:p>
        </p:txBody>
      </p:sp>
      <p:sp>
        <p:nvSpPr>
          <p:cNvPr id="5" name="Text 3"/>
          <p:cNvSpPr txBox="1"/>
          <p:nvPr/>
        </p:nvSpPr>
        <p:spPr>
          <a:xfrm>
            <a:off x="594360"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E5493A"/>
                </a:solidFill>
                <a:latin typeface="Cambria" pitchFamily="34" charset="0"/>
                <a:ea typeface="Cambria" pitchFamily="34" charset="-122"/>
                <a:cs typeface="Cambria" pitchFamily="34" charset="-120"/>
              </a:rPr>
              <a:t>The cup you cannot drink alone</a:t>
            </a:r>
            <a:endParaRPr lang="en-US" sz="2500" dirty="0"/>
          </a:p>
        </p:txBody>
      </p:sp>
      <p:sp>
        <p:nvSpPr>
          <p:cNvPr id="6" name="Text 4"/>
          <p:cNvSpPr txBox="1"/>
          <p:nvPr/>
        </p:nvSpPr>
        <p:spPr>
          <a:xfrm>
            <a:off x="594360"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CHINA · 合卺</a:t>
            </a:r>
            <a:endParaRPr lang="en-US" sz="950" dirty="0"/>
          </a:p>
        </p:txBody>
      </p:sp>
      <p:sp>
        <p:nvSpPr>
          <p:cNvPr id="7" name="Text 5"/>
          <p:cNvSpPr txBox="1"/>
          <p:nvPr/>
        </p:nvSpPr>
        <p:spPr>
          <a:xfrm>
            <a:off x="594360"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The cross-cupped wine is drunk with arms linked, so neither can lift the cup without the other's arm moving — traditionally from two halves of a single split gourd, which fit no other half. The tea says the same thing: the couple kneel and serve, the elders drink and hand back gold. The marriage is ratified by the generation above — not declared by the two people in it.</a:t>
            </a:r>
            <a:endParaRPr lang="en-US" sz="1450" dirty="0"/>
          </a:p>
        </p:txBody>
      </p:sp>
      <p:sp>
        <p:nvSpPr>
          <p:cNvPr id="8" name="Shape 6"/>
          <p:cNvSpPr/>
          <p:nvPr/>
        </p:nvSpPr>
        <p:spPr>
          <a:xfrm>
            <a:off x="6931152" y="841248"/>
            <a:ext cx="868680" cy="237744"/>
          </a:xfrm>
          <a:prstGeom prst="roundRect">
            <a:avLst>
              <a:gd name="adj" fmla="val 19231"/>
            </a:avLst>
          </a:prstGeom>
          <a:solidFill>
            <a:srgbClr val="110E0C"/>
          </a:solidFill>
          <a:ln w="9525">
            <a:solidFill>
              <a:srgbClr val="46A98A"/>
            </a:solidFill>
            <a:prstDash val="solid"/>
          </a:ln>
        </p:spPr>
      </p:sp>
      <p:sp>
        <p:nvSpPr>
          <p:cNvPr id="9" name="Text 7"/>
          <p:cNvSpPr txBox="1"/>
          <p:nvPr/>
        </p:nvSpPr>
        <p:spPr>
          <a:xfrm>
            <a:off x="6931152" y="841248"/>
            <a:ext cx="868680" cy="237744"/>
          </a:xfrm>
          <a:prstGeom prst="rect">
            <a:avLst/>
          </a:prstGeom>
          <a:noFill/>
          <a:ln/>
        </p:spPr>
        <p:txBody>
          <a:bodyPr wrap="square" lIns="0" tIns="0" rIns="0" bIns="0" rtlCol="0" anchor="ctr"/>
          <a:lstStyle/>
          <a:p>
            <a:pPr algn="ctr" indent="0" marL="0">
              <a:buNone/>
            </a:pPr>
            <a:r>
              <a:rPr lang="en-US" sz="850" b="1" spc="160" kern="0" dirty="0">
                <a:solidFill>
                  <a:srgbClr val="46A98A"/>
                </a:solidFill>
                <a:latin typeface="Calibri" pitchFamily="34" charset="0"/>
                <a:ea typeface="Calibri" pitchFamily="34" charset="-122"/>
                <a:cs typeface="Calibri" pitchFamily="34" charset="-120"/>
              </a:rPr>
              <a:t>KENYA</a:t>
            </a:r>
            <a:endParaRPr lang="en-US" sz="850" dirty="0"/>
          </a:p>
        </p:txBody>
      </p:sp>
      <p:sp>
        <p:nvSpPr>
          <p:cNvPr id="10" name="Text 8"/>
          <p:cNvSpPr txBox="1"/>
          <p:nvPr/>
        </p:nvSpPr>
        <p:spPr>
          <a:xfrm>
            <a:off x="6931152" y="1207008"/>
            <a:ext cx="4617720" cy="868680"/>
          </a:xfrm>
          <a:prstGeom prst="rect">
            <a:avLst/>
          </a:prstGeom>
          <a:noFill/>
          <a:ln/>
        </p:spPr>
        <p:txBody>
          <a:bodyPr wrap="square" lIns="0" tIns="0" rIns="0" bIns="0" rtlCol="0" anchor="t"/>
          <a:lstStyle/>
          <a:p>
            <a:pPr indent="0" marL="0">
              <a:lnSpc>
                <a:spcPts val="2800"/>
              </a:lnSpc>
              <a:buNone/>
            </a:pPr>
            <a:r>
              <a:rPr lang="en-US" sz="2500" b="1" dirty="0">
                <a:solidFill>
                  <a:srgbClr val="46A98A"/>
                </a:solidFill>
                <a:latin typeface="Cambria" pitchFamily="34" charset="0"/>
                <a:ea typeface="Cambria" pitchFamily="34" charset="-122"/>
                <a:cs typeface="Cambria" pitchFamily="34" charset="-120"/>
              </a:rPr>
              <a:t>The shoulder has one joint</a:t>
            </a:r>
            <a:endParaRPr lang="en-US" sz="2500" dirty="0"/>
          </a:p>
        </p:txBody>
      </p:sp>
      <p:sp>
        <p:nvSpPr>
          <p:cNvPr id="11" name="Text 9"/>
          <p:cNvSpPr txBox="1"/>
          <p:nvPr/>
        </p:nvSpPr>
        <p:spPr>
          <a:xfrm>
            <a:off x="6931152" y="2103120"/>
            <a:ext cx="4617720" cy="256032"/>
          </a:xfrm>
          <a:prstGeom prst="rect">
            <a:avLst/>
          </a:prstGeom>
          <a:noFill/>
          <a:ln/>
        </p:spPr>
        <p:txBody>
          <a:bodyPr wrap="square" lIns="0" tIns="0" rIns="0" bIns="0" rtlCol="0" anchor="ctr"/>
          <a:lstStyle/>
          <a:p>
            <a:pPr indent="0" marL="0">
              <a:buNone/>
            </a:pPr>
            <a:r>
              <a:rPr lang="en-US" sz="950" b="1" spc="160" kern="0" dirty="0">
                <a:solidFill>
                  <a:srgbClr val="958A81"/>
                </a:solidFill>
                <a:latin typeface="Calibri" pitchFamily="34" charset="0"/>
                <a:ea typeface="Calibri" pitchFamily="34" charset="-122"/>
                <a:cs typeface="Calibri" pitchFamily="34" charset="-120"/>
              </a:rPr>
              <a:t>KENYA · KĨANDE</a:t>
            </a:r>
            <a:endParaRPr lang="en-US" sz="950" dirty="0"/>
          </a:p>
        </p:txBody>
      </p:sp>
      <p:sp>
        <p:nvSpPr>
          <p:cNvPr id="12" name="Text 10"/>
          <p:cNvSpPr txBox="1"/>
          <p:nvPr/>
        </p:nvSpPr>
        <p:spPr>
          <a:xfrm>
            <a:off x="6931152" y="2450592"/>
            <a:ext cx="4617720" cy="3794760"/>
          </a:xfrm>
          <a:prstGeom prst="rect">
            <a:avLst/>
          </a:prstGeom>
          <a:noFill/>
          <a:ln/>
        </p:spPr>
        <p:txBody>
          <a:bodyPr wrap="square" lIns="0" tIns="0" rIns="0" bIns="0" rtlCol="0" anchor="t"/>
          <a:lstStyle/>
          <a:p>
            <a:pPr indent="0" marL="0">
              <a:lnSpc>
                <a:spcPts val="2200"/>
              </a:lnSpc>
              <a:buNone/>
            </a:pPr>
            <a:r>
              <a:rPr lang="en-US" sz="1450" dirty="0">
                <a:solidFill>
                  <a:srgbClr val="A99A8F"/>
                </a:solidFill>
                <a:latin typeface="Calibri" pitchFamily="34" charset="0"/>
                <a:ea typeface="Calibri" pitchFamily="34" charset="-122"/>
                <a:cs typeface="Calibri" pitchFamily="34" charset="-120"/>
              </a:rPr>
              <a:t>Unlike a long bone that can be parted at several points, the kĩande has exactly one connection. One joint, one marriage, inseparable. He must cut it cleanly; breaking the bone is an omen. Say of a woman "Ndamũtinĩire kĩande" — she has been given the shoulder — and you have said the strongest thing the language has about a marriage. Afterwards she is Nyakinyua, the senior rank of Kikuyu womanhood.</a:t>
            </a:r>
            <a:endParaRPr lang="en-US" sz="1450" dirty="0"/>
          </a:p>
        </p:txBody>
      </p:sp>
      <p:sp>
        <p:nvSpPr>
          <p:cNvPr id="13" name="Shape 11"/>
          <p:cNvSpPr/>
          <p:nvPr/>
        </p:nvSpPr>
        <p:spPr>
          <a:xfrm>
            <a:off x="5532120" y="1417320"/>
            <a:ext cx="1097280" cy="1097280"/>
          </a:xfrm>
          <a:prstGeom prst="ellipse">
            <a:avLst/>
          </a:prstGeom>
          <a:solidFill>
            <a:srgbClr val="1C1613"/>
          </a:solidFill>
          <a:ln w="12700">
            <a:solidFill>
              <a:srgbClr val="DDAC4E"/>
            </a:solidFill>
            <a:prstDash val="solid"/>
          </a:ln>
        </p:spPr>
      </p:sp>
      <p:sp>
        <p:nvSpPr>
          <p:cNvPr id="14" name="Text 12"/>
          <p:cNvSpPr txBox="1"/>
          <p:nvPr/>
        </p:nvSpPr>
        <p:spPr>
          <a:xfrm>
            <a:off x="5532120" y="1417320"/>
            <a:ext cx="1097280" cy="1097280"/>
          </a:xfrm>
          <a:prstGeom prst="rect">
            <a:avLst/>
          </a:prstGeom>
          <a:noFill/>
          <a:ln/>
        </p:spPr>
        <p:txBody>
          <a:bodyPr wrap="square" lIns="0" tIns="0" rIns="0" bIns="0" rtlCol="0" anchor="ctr"/>
          <a:lstStyle/>
          <a:p>
            <a:pPr algn="ctr" indent="0" marL="0">
              <a:buNone/>
            </a:pPr>
            <a:r>
              <a:rPr lang="en-US" sz="2600" b="1" dirty="0">
                <a:solidFill>
                  <a:srgbClr val="DDAC4E"/>
                </a:solidFill>
                <a:latin typeface="Cambria" pitchFamily="34" charset="0"/>
                <a:ea typeface="Cambria" pitchFamily="34" charset="-122"/>
                <a:cs typeface="Cambria" pitchFamily="34" charset="-120"/>
              </a:rPr>
              <a:t>對</a:t>
            </a:r>
            <a:endParaRPr lang="en-US" sz="2600" dirty="0"/>
          </a:p>
        </p:txBody>
      </p:sp>
      <p:sp>
        <p:nvSpPr>
          <p:cNvPr id="15" name="Text 13"/>
          <p:cNvSpPr txBox="1"/>
          <p:nvPr/>
        </p:nvSpPr>
        <p:spPr>
          <a:xfrm>
            <a:off x="5166360" y="2679192"/>
            <a:ext cx="1828800" cy="347472"/>
          </a:xfrm>
          <a:prstGeom prst="rect">
            <a:avLst/>
          </a:prstGeom>
          <a:noFill/>
          <a:ln/>
        </p:spPr>
        <p:txBody>
          <a:bodyPr wrap="square" lIns="0" tIns="0" rIns="0" bIns="0" rtlCol="0" anchor="ctr"/>
          <a:lstStyle/>
          <a:p>
            <a:pPr algn="ctr" indent="0" marL="0">
              <a:buNone/>
            </a:pPr>
            <a:r>
              <a:rPr lang="en-US" sz="1350" b="1" dirty="0">
                <a:solidFill>
                  <a:srgbClr val="F1E8D9"/>
                </a:solidFill>
                <a:latin typeface="Cambria" pitchFamily="34" charset="0"/>
                <a:ea typeface="Cambria" pitchFamily="34" charset="-122"/>
                <a:cs typeface="Cambria" pitchFamily="34" charset="-120"/>
              </a:rPr>
              <a:t>The Seal</a:t>
            </a:r>
            <a:endParaRPr lang="en-US" sz="1350" dirty="0"/>
          </a:p>
        </p:txBody>
      </p:sp>
      <p:sp>
        <p:nvSpPr>
          <p:cNvPr id="16" name="Text 14"/>
          <p:cNvSpPr txBox="1"/>
          <p:nvPr/>
        </p:nvSpPr>
        <p:spPr>
          <a:xfrm>
            <a:off x="5166360" y="3026664"/>
            <a:ext cx="1828800" cy="237744"/>
          </a:xfrm>
          <a:prstGeom prst="rect">
            <a:avLst/>
          </a:prstGeom>
          <a:noFill/>
          <a:ln/>
        </p:spPr>
        <p:txBody>
          <a:bodyPr wrap="square" lIns="0" tIns="0" rIns="0" bIns="0" rtlCol="0" anchor="ctr"/>
          <a:lstStyle/>
          <a:p>
            <a:pPr algn="ctr" indent="0" marL="0">
              <a:buNone/>
            </a:pPr>
            <a:r>
              <a:rPr lang="en-US" sz="950" b="1" spc="180" kern="0" dirty="0">
                <a:solidFill>
                  <a:srgbClr val="958A81"/>
                </a:solidFill>
                <a:latin typeface="Calibri" pitchFamily="34" charset="0"/>
                <a:ea typeface="Calibri" pitchFamily="34" charset="-122"/>
                <a:cs typeface="Calibri" pitchFamily="34" charset="-120"/>
              </a:rPr>
              <a:t>COMPARED</a:t>
            </a:r>
            <a:endParaRPr lang="en-US" sz="950" dirty="0"/>
          </a:p>
        </p:txBody>
      </p:sp>
      <p:sp>
        <p:nvSpPr>
          <p:cNvPr id="17" name="Text 15"/>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ONE BONE, ONE CUP</a:t>
            </a:r>
            <a:endParaRPr lang="en-US" sz="850" dirty="0"/>
          </a:p>
        </p:txBody>
      </p:sp>
      <p:sp>
        <p:nvSpPr>
          <p:cNvPr id="18" name="Text 16"/>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THE SINGLE SHARPEST DIVERGENCE</a:t>
            </a:r>
            <a:endParaRPr lang="en-US" sz="1050" dirty="0"/>
          </a:p>
        </p:txBody>
      </p:sp>
      <p:sp>
        <p:nvSpPr>
          <p:cNvPr id="3" name="Text 1"/>
          <p:cNvSpPr txBox="1"/>
          <p:nvPr/>
        </p:nvSpPr>
        <p:spPr>
          <a:xfrm>
            <a:off x="594360" y="1463040"/>
            <a:ext cx="10058400" cy="3017520"/>
          </a:xfrm>
          <a:prstGeom prst="rect">
            <a:avLst/>
          </a:prstGeom>
          <a:noFill/>
          <a:ln/>
        </p:spPr>
        <p:txBody>
          <a:bodyPr wrap="square" lIns="0" tIns="0" rIns="0" bIns="0" rtlCol="0" anchor="ctr"/>
          <a:lstStyle/>
          <a:p>
            <a:pPr indent="0" marL="0">
              <a:lnSpc>
                <a:spcPts val="4400"/>
              </a:lnSpc>
              <a:buNone/>
            </a:pPr>
            <a:r>
              <a:rPr lang="en-US" sz="3400" dirty="0">
                <a:solidFill>
                  <a:srgbClr val="F1E8D9"/>
                </a:solidFill>
                <a:latin typeface="Cambria" pitchFamily="34" charset="0"/>
                <a:ea typeface="Cambria" pitchFamily="34" charset="-122"/>
                <a:cs typeface="Cambria" pitchFamily="34" charset="-120"/>
              </a:rPr>
              <a:t>At the moment of cutting the shoulder, the elder makes the groom declare — in front of both clans — that </a:t>
            </a:r>
            <a:pPr indent="0" marL="0">
              <a:lnSpc>
                <a:spcPts val="4400"/>
              </a:lnSpc>
              <a:buNone/>
            </a:pPr>
            <a:r>
              <a:rPr lang="en-US" sz="3400" dirty="0">
                <a:solidFill>
                  <a:srgbClr val="DDAC4E"/>
                </a:solidFill>
                <a:latin typeface="Cambria" pitchFamily="34" charset="0"/>
                <a:ea typeface="Cambria" pitchFamily="34" charset="-122"/>
                <a:cs typeface="Cambria" pitchFamily="34" charset="-120"/>
              </a:rPr>
              <a:t>if his wife bears a child that is not biologically his, he will care for that child.</a:t>
            </a:r>
            <a:endParaRPr lang="en-US" sz="3400" dirty="0"/>
          </a:p>
        </p:txBody>
      </p:sp>
      <p:sp>
        <p:nvSpPr>
          <p:cNvPr id="4" name="Text 2"/>
          <p:cNvSpPr txBox="1"/>
          <p:nvPr/>
        </p:nvSpPr>
        <p:spPr>
          <a:xfrm>
            <a:off x="594360" y="4846320"/>
            <a:ext cx="8686800" cy="822960"/>
          </a:xfrm>
          <a:prstGeom prst="rect">
            <a:avLst/>
          </a:prstGeom>
          <a:noFill/>
          <a:ln/>
        </p:spPr>
        <p:txBody>
          <a:bodyPr wrap="square" lIns="0" tIns="0" rIns="0" bIns="0" rtlCol="0" anchor="t"/>
          <a:lstStyle/>
          <a:p>
            <a:pPr indent="0" marL="0">
              <a:lnSpc>
                <a:spcPts val="2300"/>
              </a:lnSpc>
              <a:buNone/>
            </a:pPr>
            <a:r>
              <a:rPr lang="en-US" sz="1500" dirty="0">
                <a:solidFill>
                  <a:srgbClr val="A99A8F"/>
                </a:solidFill>
                <a:latin typeface="Calibri" pitchFamily="34" charset="0"/>
                <a:ea typeface="Calibri" pitchFamily="34" charset="-122"/>
                <a:cs typeface="Calibri" pitchFamily="34" charset="-120"/>
              </a:rPr>
              <a:t>There is no equivalent anywhere in the Chinese sequence. It is said aloud, at the most solemn instant of the day, with every person present listening.</a:t>
            </a:r>
            <a:endParaRPr lang="en-US" sz="1500" dirty="0"/>
          </a:p>
        </p:txBody>
      </p:sp>
      <p:sp>
        <p:nvSpPr>
          <p:cNvPr id="5"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ONE BONE, ONE CUP</a:t>
            </a:r>
            <a:endParaRPr lang="en-US" sz="850" dirty="0"/>
          </a:p>
        </p:txBody>
      </p:sp>
      <p:sp>
        <p:nvSpPr>
          <p:cNvPr id="6"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COMEDY IS LOAD-BEARING</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Both cultures make the groom look ridiculous on purpose</a:t>
            </a:r>
            <a:endParaRPr lang="en-US" sz="3300" dirty="0"/>
          </a:p>
        </p:txBody>
      </p:sp>
      <p:sp>
        <p:nvSpPr>
          <p:cNvPr id="4" name="Shape 2"/>
          <p:cNvSpPr/>
          <p:nvPr/>
        </p:nvSpPr>
        <p:spPr>
          <a:xfrm>
            <a:off x="594360" y="1965960"/>
            <a:ext cx="3456432" cy="3840480"/>
          </a:xfrm>
          <a:prstGeom prst="rect">
            <a:avLst/>
          </a:prstGeom>
          <a:solidFill>
            <a:srgbClr val="1C1613"/>
          </a:solidFill>
          <a:ln w="9525">
            <a:solidFill>
              <a:srgbClr val="3A2F26"/>
            </a:solidFill>
            <a:prstDash val="solid"/>
          </a:ln>
        </p:spPr>
      </p:sp>
      <p:sp>
        <p:nvSpPr>
          <p:cNvPr id="5" name="Text 3"/>
          <p:cNvSpPr txBox="1"/>
          <p:nvPr/>
        </p:nvSpPr>
        <p:spPr>
          <a:xfrm>
            <a:off x="886968" y="228600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46A98A"/>
                </a:solidFill>
                <a:latin typeface="Cambria" pitchFamily="34" charset="0"/>
                <a:ea typeface="Cambria" pitchFamily="34" charset="-122"/>
                <a:cs typeface="Cambria" pitchFamily="34" charset="-120"/>
              </a:rPr>
              <a:t>Gũkũndania ũcũrũ</a:t>
            </a:r>
            <a:endParaRPr lang="en-US" sz="1700" dirty="0"/>
          </a:p>
        </p:txBody>
      </p:sp>
      <p:sp>
        <p:nvSpPr>
          <p:cNvPr id="6" name="Text 4"/>
          <p:cNvSpPr txBox="1"/>
          <p:nvPr/>
        </p:nvSpPr>
        <p:spPr>
          <a:xfrm>
            <a:off x="886968" y="3063240"/>
            <a:ext cx="2871216" cy="246888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He sits on a ceremonial stool. She brings fermented porridge. He refuses it — his hair is not combed, his shoes are dusty, his jacket needs brushing. She must satisfy each complaint before he will drink. The crowd has seen this a hundred times and still loses it.</a:t>
            </a:r>
            <a:endParaRPr lang="en-US" sz="1200" dirty="0"/>
          </a:p>
        </p:txBody>
      </p:sp>
      <p:sp>
        <p:nvSpPr>
          <p:cNvPr id="7" name="Shape 5"/>
          <p:cNvSpPr/>
          <p:nvPr/>
        </p:nvSpPr>
        <p:spPr>
          <a:xfrm>
            <a:off x="4370832" y="1965960"/>
            <a:ext cx="3456432" cy="3840480"/>
          </a:xfrm>
          <a:prstGeom prst="rect">
            <a:avLst/>
          </a:prstGeom>
          <a:solidFill>
            <a:srgbClr val="1C1613"/>
          </a:solidFill>
          <a:ln w="9525">
            <a:solidFill>
              <a:srgbClr val="3A2F26"/>
            </a:solidFill>
            <a:prstDash val="solid"/>
          </a:ln>
        </p:spPr>
      </p:sp>
      <p:sp>
        <p:nvSpPr>
          <p:cNvPr id="8" name="Text 6"/>
          <p:cNvSpPr txBox="1"/>
          <p:nvPr/>
        </p:nvSpPr>
        <p:spPr>
          <a:xfrm>
            <a:off x="4663440" y="228600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E5493A"/>
                </a:solidFill>
                <a:latin typeface="Cambria" pitchFamily="34" charset="0"/>
                <a:ea typeface="Cambria" pitchFamily="34" charset="-122"/>
                <a:cs typeface="Cambria" pitchFamily="34" charset="-120"/>
              </a:rPr>
              <a:t>The gauntlet at the door</a:t>
            </a:r>
            <a:endParaRPr lang="en-US" sz="1700" dirty="0"/>
          </a:p>
        </p:txBody>
      </p:sp>
      <p:sp>
        <p:nvSpPr>
          <p:cNvPr id="9" name="Text 7"/>
          <p:cNvSpPr txBox="1"/>
          <p:nvPr/>
        </p:nvSpPr>
        <p:spPr>
          <a:xfrm>
            <a:off x="4663440" y="3063240"/>
            <a:ext cx="2871216" cy="246888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In Singapore and Malaysia the door games have escalated into spectacle — the local press has reported gatecrashers eating Nutella out of a nappy. A photographer estimated in 2016 that one in five Singaporean Chinese couples now drops them entirely.</a:t>
            </a:r>
            <a:endParaRPr lang="en-US" sz="1200" dirty="0"/>
          </a:p>
        </p:txBody>
      </p:sp>
      <p:sp>
        <p:nvSpPr>
          <p:cNvPr id="10" name="Shape 8"/>
          <p:cNvSpPr/>
          <p:nvPr/>
        </p:nvSpPr>
        <p:spPr>
          <a:xfrm>
            <a:off x="8147304" y="1965960"/>
            <a:ext cx="3456432" cy="3840480"/>
          </a:xfrm>
          <a:prstGeom prst="rect">
            <a:avLst/>
          </a:prstGeom>
          <a:solidFill>
            <a:srgbClr val="1C1613"/>
          </a:solidFill>
          <a:ln w="9525">
            <a:solidFill>
              <a:srgbClr val="3A2F26"/>
            </a:solidFill>
            <a:prstDash val="solid"/>
          </a:ln>
        </p:spPr>
      </p:sp>
      <p:sp>
        <p:nvSpPr>
          <p:cNvPr id="11" name="Text 9"/>
          <p:cNvSpPr txBox="1"/>
          <p:nvPr/>
        </p:nvSpPr>
        <p:spPr>
          <a:xfrm>
            <a:off x="8439912" y="2286000"/>
            <a:ext cx="2871216" cy="685800"/>
          </a:xfrm>
          <a:prstGeom prst="rect">
            <a:avLst/>
          </a:prstGeom>
          <a:noFill/>
          <a:ln/>
        </p:spPr>
        <p:txBody>
          <a:bodyPr wrap="square" lIns="0" tIns="0" rIns="0" bIns="0" rtlCol="0" anchor="ctr"/>
          <a:lstStyle/>
          <a:p>
            <a:pPr indent="0" marL="0">
              <a:lnSpc>
                <a:spcPts val="2100"/>
              </a:lnSpc>
              <a:buNone/>
            </a:pPr>
            <a:r>
              <a:rPr lang="en-US" sz="1700" b="1" dirty="0">
                <a:solidFill>
                  <a:srgbClr val="DDAC4E"/>
                </a:solidFill>
                <a:latin typeface="Cambria" pitchFamily="34" charset="0"/>
                <a:ea typeface="Cambria" pitchFamily="34" charset="-122"/>
                <a:cs typeface="Cambria" pitchFamily="34" charset="-120"/>
              </a:rPr>
              <a:t>The rule neither writes down</a:t>
            </a:r>
            <a:endParaRPr lang="en-US" sz="1700" dirty="0"/>
          </a:p>
        </p:txBody>
      </p:sp>
      <p:sp>
        <p:nvSpPr>
          <p:cNvPr id="12" name="Text 10"/>
          <p:cNvSpPr txBox="1"/>
          <p:nvPr/>
        </p:nvSpPr>
        <p:spPr>
          <a:xfrm>
            <a:off x="8439912" y="3063240"/>
            <a:ext cx="2871216" cy="246888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In both, the humiliation is scaled to the audience and paid for in cash — red envelopes at the bedroom door, a goat for a wrong guess at the gate. It is not hazing. It is a public demonstration that he can be made to pay and will pay anyway.</a:t>
            </a:r>
            <a:endParaRPr lang="en-US" sz="1200" dirty="0"/>
          </a:p>
        </p:txBody>
      </p:sp>
      <p:sp>
        <p:nvSpPr>
          <p:cNvPr id="13" name="Text 11"/>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COMEDY</a:t>
            </a:r>
            <a:endParaRPr lang="en-US" sz="850" dirty="0"/>
          </a:p>
        </p:txBody>
      </p:sp>
      <p:sp>
        <p:nvSpPr>
          <p:cNvPr id="14" name="Text 12"/>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CLOTH</a:t>
            </a:r>
            <a:endParaRPr lang="en-US" sz="1050" dirty="0"/>
          </a:p>
        </p:txBody>
      </p:sp>
      <p:sp>
        <p:nvSpPr>
          <p:cNvPr id="3" name="Text 1"/>
          <p:cNvSpPr txBox="1"/>
          <p:nvPr/>
        </p:nvSpPr>
        <p:spPr>
          <a:xfrm>
            <a:off x="594360" y="777240"/>
            <a:ext cx="11002975" cy="685800"/>
          </a:xfrm>
          <a:prstGeom prst="rect">
            <a:avLst/>
          </a:prstGeom>
          <a:noFill/>
          <a:ln/>
        </p:spPr>
        <p:txBody>
          <a:bodyPr wrap="square" lIns="0" tIns="0" rIns="0" bIns="0" rtlCol="0" anchor="ctr"/>
          <a:lstStyle/>
          <a:p>
            <a:pPr indent="0" marL="0">
              <a:buNone/>
            </a:pPr>
            <a:r>
              <a:rPr lang="en-US" sz="3300" b="1" dirty="0">
                <a:solidFill>
                  <a:srgbClr val="F1E8D9"/>
                </a:solidFill>
                <a:latin typeface="Cambria" pitchFamily="34" charset="0"/>
                <a:ea typeface="Cambria" pitchFamily="34" charset="-122"/>
                <a:cs typeface="Cambria" pitchFamily="34" charset="-120"/>
              </a:rPr>
              <a:t>The </a:t>
            </a:r>
            <a:pPr indent="0" marL="0">
              <a:buNone/>
            </a:pPr>
            <a:r>
              <a:rPr lang="en-US" sz="3300" b="1" spc="200" kern="0" dirty="0">
                <a:solidFill>
                  <a:srgbClr val="F1E8D9"/>
                </a:solidFill>
                <a:latin typeface="Cambria" pitchFamily="34" charset="0"/>
                <a:ea typeface="Cambria" pitchFamily="34" charset="-122"/>
                <a:cs typeface="Cambria" pitchFamily="34" charset="-120"/>
              </a:rPr>
              <a:t>裙褂</a:t>
            </a:r>
            <a:pPr indent="0" marL="0">
              <a:buNone/>
            </a:pPr>
            <a:r>
              <a:rPr lang="en-US" sz="3300" b="1" dirty="0">
                <a:solidFill>
                  <a:srgbClr val="F1E8D9"/>
                </a:solidFill>
                <a:latin typeface="Cambria" pitchFamily="34" charset="0"/>
                <a:ea typeface="Cambria" pitchFamily="34" charset="-122"/>
                <a:cs typeface="Cambria" pitchFamily="34" charset="-120"/>
              </a:rPr>
              <a:t>, graded by thread</a:t>
            </a:r>
            <a:endParaRPr lang="en-US" sz="3300" dirty="0"/>
          </a:p>
        </p:txBody>
      </p:sp>
      <p:graphicFrame>
        <p:nvGraphicFramePr>
          <p:cNvPr id="4" name="Chart 0" descr=""/>
          <p:cNvGraphicFramePr/>
          <p:nvPr/>
        </p:nvGraphicFramePr>
        <p:xfrm>
          <a:off x="594360" y="1645920"/>
          <a:ext cx="594360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49440" y="1783080"/>
            <a:ext cx="4663440" cy="3931920"/>
          </a:xfrm>
          <a:prstGeom prst="rect">
            <a:avLst/>
          </a:prstGeom>
          <a:noFill/>
          <a:ln/>
        </p:spPr>
        <p:txBody>
          <a:bodyPr wrap="square" lIns="0" tIns="0" rIns="0" bIns="0" rtlCol="0" anchor="t"/>
          <a:lstStyle/>
          <a:p>
            <a:pPr indent="0" marL="0">
              <a:lnSpc>
                <a:spcPts val="1800"/>
              </a:lnSpc>
              <a:buNone/>
            </a:pPr>
            <a:r>
              <a:rPr lang="en-US" sz="1250" b="1" dirty="0">
                <a:solidFill>
                  <a:srgbClr val="E5493A"/>
                </a:solidFill>
                <a:latin typeface="Calibri" pitchFamily="34" charset="0"/>
                <a:ea typeface="Calibri" pitchFamily="34" charset="-122"/>
                <a:cs typeface="Calibri" pitchFamily="34" charset="-120"/>
              </a:rPr>
              <a:t>The red is younger than you think. </a:t>
            </a:r>
            <a:pPr indent="0" marL="0">
              <a:lnSpc>
                <a:spcPts val="1800"/>
              </a:lnSpc>
              <a:buNone/>
            </a:pPr>
            <a:r>
              <a:rPr lang="en-US" sz="1250" dirty="0">
                <a:solidFill>
                  <a:srgbClr val="A99A8F"/>
                </a:solidFill>
                <a:latin typeface="Calibri" pitchFamily="34" charset="0"/>
                <a:ea typeface="Calibri" pitchFamily="34" charset="-122"/>
                <a:cs typeface="Calibri" pitchFamily="34" charset="-120"/>
              </a:rPr>
              <a:t>The qùnguà began in 18th-century Guangdong, after a Qing official was rewarded with a dragon-and-phoenix dress for his daughter. But the jacket was originally black — only the skirt was red. All-red dates from the 1960s; black-and-red is now what the bride’s mother wears.
</a:t>
            </a:r>
            <a:pPr indent="0" marL="0">
              <a:lnSpc>
                <a:spcPts val="1800"/>
              </a:lnSpc>
              <a:buNone/>
            </a:pPr>
            <a:r>
              <a:rPr lang="en-US" sz="1250" b="1" dirty="0">
                <a:solidFill>
                  <a:srgbClr val="46A98A"/>
                </a:solidFill>
                <a:latin typeface="Calibri" pitchFamily="34" charset="0"/>
                <a:ea typeface="Calibri" pitchFamily="34" charset="-122"/>
                <a:cs typeface="Calibri" pitchFamily="34" charset="-120"/>
              </a:rPr>
              <a:t>Brown, beads, a borrowed cloth. </a:t>
            </a:r>
            <a:pPr indent="0" marL="0">
              <a:lnSpc>
                <a:spcPts val="1800"/>
              </a:lnSpc>
              <a:buNone/>
            </a:pPr>
            <a:r>
              <a:rPr lang="en-US" sz="1250" dirty="0">
                <a:solidFill>
                  <a:srgbClr val="A99A8F"/>
                </a:solidFill>
                <a:latin typeface="Calibri" pitchFamily="34" charset="0"/>
                <a:ea typeface="Calibri" pitchFamily="34" charset="-122"/>
                <a:cs typeface="Calibri" pitchFamily="34" charset="-120"/>
              </a:rPr>
              <a:t>For Ngurario the couple wear Gĩkũyũ attire — a brown gown of local fabric, beads, bangles. Not red: the palette of hide, earth and the slopes of Kirinyaga, the direction the ram’s blood is sprinkled.</a:t>
            </a:r>
            <a:endParaRPr lang="en-US" sz="1250" dirty="0"/>
          </a:p>
        </p:txBody>
      </p:sp>
      <p:sp>
        <p:nvSpPr>
          <p:cNvPr id="6" name="Text 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CLOTH</a:t>
            </a:r>
            <a:endParaRPr lang="en-US" sz="850" dirty="0"/>
          </a:p>
        </p:txBody>
      </p:sp>
      <p:sp>
        <p:nvSpPr>
          <p:cNvPr id="7" name="Text 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HONEST FOOTING · YOUR DEFENCE WHEN SHE FACT-CHECKS</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Where the sources actively contradict each other</a:t>
            </a:r>
            <a:endParaRPr lang="en-US" sz="3300" dirty="0"/>
          </a:p>
        </p:txBody>
      </p:sp>
      <p:sp>
        <p:nvSpPr>
          <p:cNvPr id="4" name="Shape 2"/>
          <p:cNvSpPr/>
          <p:nvPr/>
        </p:nvSpPr>
        <p:spPr>
          <a:xfrm>
            <a:off x="594360" y="1911096"/>
            <a:ext cx="310896" cy="310896"/>
          </a:xfrm>
          <a:prstGeom prst="ellipse">
            <a:avLst/>
          </a:prstGeom>
          <a:solidFill>
            <a:srgbClr val="1C1613"/>
          </a:solidFill>
          <a:ln w="9525">
            <a:solidFill>
              <a:srgbClr val="DDAC4E"/>
            </a:solidFill>
            <a:prstDash val="solid"/>
          </a:ln>
        </p:spPr>
      </p:sp>
      <p:sp>
        <p:nvSpPr>
          <p:cNvPr id="5" name="Text 3"/>
          <p:cNvSpPr txBox="1"/>
          <p:nvPr/>
        </p:nvSpPr>
        <p:spPr>
          <a:xfrm>
            <a:off x="594360" y="1911096"/>
            <a:ext cx="310896" cy="310896"/>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a:t>
            </a:r>
            <a:endParaRPr lang="en-US" sz="1300" dirty="0"/>
          </a:p>
        </p:txBody>
      </p:sp>
      <p:sp>
        <p:nvSpPr>
          <p:cNvPr id="6" name="Text 4"/>
          <p:cNvSpPr txBox="1"/>
          <p:nvPr/>
        </p:nvSpPr>
        <p:spPr>
          <a:xfrm>
            <a:off x="1161288" y="1746504"/>
            <a:ext cx="3200400" cy="822960"/>
          </a:xfrm>
          <a:prstGeom prst="rect">
            <a:avLst/>
          </a:prstGeom>
          <a:noFill/>
          <a:ln/>
        </p:spPr>
        <p:txBody>
          <a:bodyPr wrap="square" lIns="0" tIns="0" rIns="0" bIns="0" rtlCol="0" anchor="t"/>
          <a:lstStyle/>
          <a:p>
            <a:pPr indent="0" marL="0">
              <a:buNone/>
            </a:pPr>
            <a:r>
              <a:rPr lang="en-US" sz="1500" b="1" dirty="0">
                <a:solidFill>
                  <a:srgbClr val="F1E8D9"/>
                </a:solidFill>
                <a:latin typeface="Cambria" pitchFamily="34" charset="0"/>
                <a:ea typeface="Cambria" pitchFamily="34" charset="-122"/>
                <a:cs typeface="Cambria" pitchFamily="34" charset="-120"/>
              </a:rPr>
              <a:t>Is Ngurario last, or first?</a:t>
            </a:r>
            <a:endParaRPr lang="en-US" sz="1500" dirty="0"/>
          </a:p>
        </p:txBody>
      </p:sp>
      <p:sp>
        <p:nvSpPr>
          <p:cNvPr id="7" name="Text 5"/>
          <p:cNvSpPr txBox="1"/>
          <p:nvPr/>
        </p:nvSpPr>
        <p:spPr>
          <a:xfrm>
            <a:off x="4617720" y="1746504"/>
            <a:ext cx="6903720" cy="914400"/>
          </a:xfrm>
          <a:prstGeom prst="rect">
            <a:avLst/>
          </a:prstGeom>
          <a:noFill/>
          <a:ln/>
        </p:spPr>
        <p:txBody>
          <a:bodyPr wrap="square" lIns="0" tIns="0" rIns="0" bIns="0" rtlCol="0" anchor="t"/>
          <a:lstStyle/>
          <a:p>
            <a:pPr indent="0" marL="0">
              <a:lnSpc>
                <a:spcPts val="1700"/>
              </a:lnSpc>
              <a:buNone/>
            </a:pPr>
            <a:r>
              <a:rPr lang="en-US" sz="1250" dirty="0">
                <a:solidFill>
                  <a:srgbClr val="A99A8F"/>
                </a:solidFill>
                <a:latin typeface="Calibri" pitchFamily="34" charset="0"/>
                <a:ea typeface="Calibri" pitchFamily="34" charset="-122"/>
                <a:cs typeface="Calibri" pitchFamily="34" charset="-120"/>
              </a:rPr>
              <a:t>Wedding sources place it at the end, as the sealing rite. At least one ethnographic account places it before the rũracio, as the engagement. Ritual differs across the nine clans.</a:t>
            </a:r>
            <a:endParaRPr lang="en-US" sz="1250" dirty="0"/>
          </a:p>
        </p:txBody>
      </p:sp>
      <p:sp>
        <p:nvSpPr>
          <p:cNvPr id="8" name="Shape 6"/>
          <p:cNvSpPr/>
          <p:nvPr/>
        </p:nvSpPr>
        <p:spPr>
          <a:xfrm>
            <a:off x="594360" y="2971800"/>
            <a:ext cx="310896" cy="310896"/>
          </a:xfrm>
          <a:prstGeom prst="ellipse">
            <a:avLst/>
          </a:prstGeom>
          <a:solidFill>
            <a:srgbClr val="1C1613"/>
          </a:solidFill>
          <a:ln w="9525">
            <a:solidFill>
              <a:srgbClr val="DDAC4E"/>
            </a:solidFill>
            <a:prstDash val="solid"/>
          </a:ln>
        </p:spPr>
      </p:sp>
      <p:sp>
        <p:nvSpPr>
          <p:cNvPr id="9" name="Text 7"/>
          <p:cNvSpPr txBox="1"/>
          <p:nvPr/>
        </p:nvSpPr>
        <p:spPr>
          <a:xfrm>
            <a:off x="594360" y="2971800"/>
            <a:ext cx="310896" cy="310896"/>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a:t>
            </a:r>
            <a:endParaRPr lang="en-US" sz="1300" dirty="0"/>
          </a:p>
        </p:txBody>
      </p:sp>
      <p:sp>
        <p:nvSpPr>
          <p:cNvPr id="10" name="Text 8"/>
          <p:cNvSpPr txBox="1"/>
          <p:nvPr/>
        </p:nvSpPr>
        <p:spPr>
          <a:xfrm>
            <a:off x="1161288" y="2807208"/>
            <a:ext cx="3200400" cy="822960"/>
          </a:xfrm>
          <a:prstGeom prst="rect">
            <a:avLst/>
          </a:prstGeom>
          <a:noFill/>
          <a:ln/>
        </p:spPr>
        <p:txBody>
          <a:bodyPr wrap="square" lIns="0" tIns="0" rIns="0" bIns="0" rtlCol="0" anchor="t"/>
          <a:lstStyle/>
          <a:p>
            <a:pPr indent="0" marL="0">
              <a:buNone/>
            </a:pPr>
            <a:r>
              <a:rPr lang="en-US" sz="1500" b="1" dirty="0">
                <a:solidFill>
                  <a:srgbClr val="F1E8D9"/>
                </a:solidFill>
                <a:latin typeface="Cambria" pitchFamily="34" charset="0"/>
                <a:ea typeface="Cambria" pitchFamily="34" charset="-122"/>
                <a:cs typeface="Cambria" pitchFamily="34" charset="-120"/>
              </a:rPr>
              <a:t>Ninety-nine goats, or thirty?</a:t>
            </a:r>
            <a:endParaRPr lang="en-US" sz="1500" dirty="0"/>
          </a:p>
        </p:txBody>
      </p:sp>
      <p:sp>
        <p:nvSpPr>
          <p:cNvPr id="11" name="Text 9"/>
          <p:cNvSpPr txBox="1"/>
          <p:nvPr/>
        </p:nvSpPr>
        <p:spPr>
          <a:xfrm>
            <a:off x="4617720" y="2807208"/>
            <a:ext cx="6903720" cy="914400"/>
          </a:xfrm>
          <a:prstGeom prst="rect">
            <a:avLst/>
          </a:prstGeom>
          <a:noFill/>
          <a:ln/>
        </p:spPr>
        <p:txBody>
          <a:bodyPr wrap="square" lIns="0" tIns="0" rIns="0" bIns="0" rtlCol="0" anchor="t"/>
          <a:lstStyle/>
          <a:p>
            <a:pPr indent="0" marL="0">
              <a:lnSpc>
                <a:spcPts val="1700"/>
              </a:lnSpc>
              <a:buNone/>
            </a:pPr>
            <a:r>
              <a:rPr lang="en-US" sz="1250" dirty="0">
                <a:solidFill>
                  <a:srgbClr val="A99A8F"/>
                </a:solidFill>
                <a:latin typeface="Calibri" pitchFamily="34" charset="0"/>
                <a:ea typeface="Calibri" pitchFamily="34" charset="-122"/>
                <a:cs typeface="Calibri" pitchFamily="34" charset="-120"/>
              </a:rPr>
              <a:t>Ninety-nine is the modern Kenyan wedding-industry figure everyone repeats. Older ethnography records thirty goats plus five or six sheep, half paid before the marriage.</a:t>
            </a:r>
            <a:endParaRPr lang="en-US" sz="1250" dirty="0"/>
          </a:p>
        </p:txBody>
      </p:sp>
      <p:sp>
        <p:nvSpPr>
          <p:cNvPr id="12" name="Shape 10"/>
          <p:cNvSpPr/>
          <p:nvPr/>
        </p:nvSpPr>
        <p:spPr>
          <a:xfrm>
            <a:off x="594360" y="4032504"/>
            <a:ext cx="310896" cy="310896"/>
          </a:xfrm>
          <a:prstGeom prst="ellipse">
            <a:avLst/>
          </a:prstGeom>
          <a:solidFill>
            <a:srgbClr val="1C1613"/>
          </a:solidFill>
          <a:ln w="9525">
            <a:solidFill>
              <a:srgbClr val="DDAC4E"/>
            </a:solidFill>
            <a:prstDash val="solid"/>
          </a:ln>
        </p:spPr>
      </p:sp>
      <p:sp>
        <p:nvSpPr>
          <p:cNvPr id="13" name="Text 11"/>
          <p:cNvSpPr txBox="1"/>
          <p:nvPr/>
        </p:nvSpPr>
        <p:spPr>
          <a:xfrm>
            <a:off x="594360" y="4032504"/>
            <a:ext cx="310896" cy="310896"/>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a:t>
            </a:r>
            <a:endParaRPr lang="en-US" sz="1300" dirty="0"/>
          </a:p>
        </p:txBody>
      </p:sp>
      <p:sp>
        <p:nvSpPr>
          <p:cNvPr id="14" name="Text 12"/>
          <p:cNvSpPr txBox="1"/>
          <p:nvPr/>
        </p:nvSpPr>
        <p:spPr>
          <a:xfrm>
            <a:off x="1161288" y="3867912"/>
            <a:ext cx="3200400" cy="822960"/>
          </a:xfrm>
          <a:prstGeom prst="rect">
            <a:avLst/>
          </a:prstGeom>
          <a:noFill/>
          <a:ln/>
        </p:spPr>
        <p:txBody>
          <a:bodyPr wrap="square" lIns="0" tIns="0" rIns="0" bIns="0" rtlCol="0" anchor="t"/>
          <a:lstStyle/>
          <a:p>
            <a:pPr indent="0" marL="0">
              <a:buNone/>
            </a:pPr>
            <a:r>
              <a:rPr lang="en-US" sz="1500" b="1" dirty="0">
                <a:solidFill>
                  <a:srgbClr val="F1E8D9"/>
                </a:solidFill>
                <a:latin typeface="Cambria" pitchFamily="34" charset="0"/>
                <a:ea typeface="Cambria" pitchFamily="34" charset="-122"/>
                <a:cs typeface="Cambria" pitchFamily="34" charset="-120"/>
              </a:rPr>
              <a:t>Three combing strokes, or four?</a:t>
            </a:r>
            <a:endParaRPr lang="en-US" sz="1500" dirty="0"/>
          </a:p>
        </p:txBody>
      </p:sp>
      <p:sp>
        <p:nvSpPr>
          <p:cNvPr id="15" name="Text 13"/>
          <p:cNvSpPr txBox="1"/>
          <p:nvPr/>
        </p:nvSpPr>
        <p:spPr>
          <a:xfrm>
            <a:off x="4617720" y="3867912"/>
            <a:ext cx="6903720" cy="914400"/>
          </a:xfrm>
          <a:prstGeom prst="rect">
            <a:avLst/>
          </a:prstGeom>
          <a:noFill/>
          <a:ln/>
        </p:spPr>
        <p:txBody>
          <a:bodyPr wrap="square" lIns="0" tIns="0" rIns="0" bIns="0" rtlCol="0" anchor="t"/>
          <a:lstStyle/>
          <a:p>
            <a:pPr indent="0" marL="0">
              <a:lnSpc>
                <a:spcPts val="1700"/>
              </a:lnSpc>
              <a:buNone/>
            </a:pPr>
            <a:r>
              <a:rPr lang="en-US" sz="1250" dirty="0">
                <a:solidFill>
                  <a:srgbClr val="A99A8F"/>
                </a:solidFill>
                <a:latin typeface="Calibri" pitchFamily="34" charset="0"/>
                <a:ea typeface="Calibri" pitchFamily="34" charset="-122"/>
                <a:cs typeface="Calibri" pitchFamily="34" charset="-120"/>
              </a:rPr>
              <a:t>The Cantonese canon gives four. Singaporean practice commonly gives three. Even the officiant is unsettled — a chaperon, a matchmaker, a "woman of good fortune," or the couple’s own parents.</a:t>
            </a:r>
            <a:endParaRPr lang="en-US" sz="1250" dirty="0"/>
          </a:p>
        </p:txBody>
      </p:sp>
      <p:sp>
        <p:nvSpPr>
          <p:cNvPr id="16" name="Shape 14"/>
          <p:cNvSpPr/>
          <p:nvPr/>
        </p:nvSpPr>
        <p:spPr>
          <a:xfrm>
            <a:off x="594360" y="5093208"/>
            <a:ext cx="310896" cy="310896"/>
          </a:xfrm>
          <a:prstGeom prst="ellipse">
            <a:avLst/>
          </a:prstGeom>
          <a:solidFill>
            <a:srgbClr val="1C1613"/>
          </a:solidFill>
          <a:ln w="9525">
            <a:solidFill>
              <a:srgbClr val="DDAC4E"/>
            </a:solidFill>
            <a:prstDash val="solid"/>
          </a:ln>
        </p:spPr>
      </p:sp>
      <p:sp>
        <p:nvSpPr>
          <p:cNvPr id="17" name="Text 15"/>
          <p:cNvSpPr txBox="1"/>
          <p:nvPr/>
        </p:nvSpPr>
        <p:spPr>
          <a:xfrm>
            <a:off x="594360" y="5093208"/>
            <a:ext cx="310896" cy="310896"/>
          </a:xfrm>
          <a:prstGeom prst="rect">
            <a:avLst/>
          </a:prstGeom>
          <a:noFill/>
          <a:ln/>
        </p:spPr>
        <p:txBody>
          <a:bodyPr wrap="square" lIns="0" tIns="0" rIns="0" bIns="0" rtlCol="0" anchor="ctr"/>
          <a:lstStyle/>
          <a:p>
            <a:pPr algn="ctr" indent="0" marL="0">
              <a:buNone/>
            </a:pPr>
            <a:r>
              <a:rPr lang="en-US" sz="1300" b="1" dirty="0">
                <a:solidFill>
                  <a:srgbClr val="DDAC4E"/>
                </a:solidFill>
                <a:latin typeface="Cambria" pitchFamily="34" charset="0"/>
                <a:ea typeface="Cambria" pitchFamily="34" charset="-122"/>
                <a:cs typeface="Cambria" pitchFamily="34" charset="-120"/>
              </a:rPr>
              <a:t>?</a:t>
            </a:r>
            <a:endParaRPr lang="en-US" sz="1300" dirty="0"/>
          </a:p>
        </p:txBody>
      </p:sp>
      <p:sp>
        <p:nvSpPr>
          <p:cNvPr id="18" name="Text 16"/>
          <p:cNvSpPr txBox="1"/>
          <p:nvPr/>
        </p:nvSpPr>
        <p:spPr>
          <a:xfrm>
            <a:off x="1161288" y="4928616"/>
            <a:ext cx="3200400" cy="822960"/>
          </a:xfrm>
          <a:prstGeom prst="rect">
            <a:avLst/>
          </a:prstGeom>
          <a:noFill/>
          <a:ln/>
        </p:spPr>
        <p:txBody>
          <a:bodyPr wrap="square" lIns="0" tIns="0" rIns="0" bIns="0" rtlCol="0" anchor="t"/>
          <a:lstStyle/>
          <a:p>
            <a:pPr indent="0" marL="0">
              <a:buNone/>
            </a:pPr>
            <a:r>
              <a:rPr lang="en-US" sz="1500" b="1" dirty="0">
                <a:solidFill>
                  <a:srgbClr val="F1E8D9"/>
                </a:solidFill>
                <a:latin typeface="Cambria" pitchFamily="34" charset="0"/>
                <a:ea typeface="Cambria" pitchFamily="34" charset="-122"/>
                <a:cs typeface="Cambria" pitchFamily="34" charset="-120"/>
              </a:rPr>
              <a:t>When were the Six Rites fixed?</a:t>
            </a:r>
            <a:endParaRPr lang="en-US" sz="1500" dirty="0"/>
          </a:p>
        </p:txBody>
      </p:sp>
      <p:sp>
        <p:nvSpPr>
          <p:cNvPr id="19" name="Text 17"/>
          <p:cNvSpPr txBox="1"/>
          <p:nvPr/>
        </p:nvSpPr>
        <p:spPr>
          <a:xfrm>
            <a:off x="4617720" y="4928616"/>
            <a:ext cx="6903720" cy="914400"/>
          </a:xfrm>
          <a:prstGeom prst="rect">
            <a:avLst/>
          </a:prstGeom>
          <a:noFill/>
          <a:ln/>
        </p:spPr>
        <p:txBody>
          <a:bodyPr wrap="square" lIns="0" tIns="0" rIns="0" bIns="0" rtlCol="0" anchor="t"/>
          <a:lstStyle/>
          <a:p>
            <a:pPr indent="0" marL="0">
              <a:lnSpc>
                <a:spcPts val="1700"/>
              </a:lnSpc>
              <a:buNone/>
            </a:pPr>
            <a:r>
              <a:rPr lang="en-US" sz="1250" dirty="0">
                <a:solidFill>
                  <a:srgbClr val="A99A8F"/>
                </a:solidFill>
                <a:latin typeface="Calibri" pitchFamily="34" charset="0"/>
                <a:ea typeface="Calibri" pitchFamily="34" charset="-122"/>
                <a:cs typeface="Calibri" pitchFamily="34" charset="-120"/>
              </a:rPr>
              <a:t>Traced to the Zhou and set down in the classical ritual texts, but the date given for hardening into general custom ranges from the full Zhou span to a narrow 402–221 BC window.</a:t>
            </a:r>
            <a:endParaRPr lang="en-US" sz="1250" dirty="0"/>
          </a:p>
        </p:txBody>
      </p:sp>
      <p:sp>
        <p:nvSpPr>
          <p:cNvPr id="20" name="Text 18"/>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CAVEATS</a:t>
            </a:r>
            <a:endParaRPr lang="en-US" sz="850" dirty="0"/>
          </a:p>
        </p:txBody>
      </p:sp>
      <p:sp>
        <p:nvSpPr>
          <p:cNvPr id="21" name="Text 19"/>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SINCE THIS IS A COMPETITION</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The scorecard, part one</a:t>
            </a:r>
            <a:endParaRPr lang="en-US" sz="3300" dirty="0"/>
          </a:p>
        </p:txBody>
      </p:sp>
      <p:sp>
        <p:nvSpPr>
          <p:cNvPr id="4" name="Text 2"/>
          <p:cNvSpPr txBox="1"/>
          <p:nvPr/>
        </p:nvSpPr>
        <p:spPr>
          <a:xfrm>
            <a:off x="594360" y="1691640"/>
            <a:ext cx="2468880" cy="274320"/>
          </a:xfrm>
          <a:prstGeom prst="rect">
            <a:avLst/>
          </a:prstGeom>
          <a:noFill/>
          <a:ln/>
        </p:spPr>
        <p:txBody>
          <a:bodyPr wrap="square" lIns="0" tIns="0" rIns="0" bIns="0" rtlCol="0" anchor="ctr"/>
          <a:lstStyle/>
          <a:p>
            <a:pPr indent="0" marL="0">
              <a:buNone/>
            </a:pPr>
            <a:r>
              <a:rPr lang="en-US" sz="950" b="1" spc="180" kern="0" dirty="0">
                <a:solidFill>
                  <a:srgbClr val="958A81"/>
                </a:solidFill>
                <a:latin typeface="Calibri" pitchFamily="34" charset="0"/>
                <a:ea typeface="Calibri" pitchFamily="34" charset="-122"/>
                <a:cs typeface="Calibri" pitchFamily="34" charset="-120"/>
              </a:rPr>
              <a:t>CATEGORY</a:t>
            </a:r>
            <a:endParaRPr lang="en-US" sz="950" dirty="0"/>
          </a:p>
        </p:txBody>
      </p:sp>
      <p:sp>
        <p:nvSpPr>
          <p:cNvPr id="5" name="Text 3"/>
          <p:cNvSpPr txBox="1"/>
          <p:nvPr/>
        </p:nvSpPr>
        <p:spPr>
          <a:xfrm>
            <a:off x="3246120" y="1691640"/>
            <a:ext cx="4297680" cy="274320"/>
          </a:xfrm>
          <a:prstGeom prst="rect">
            <a:avLst/>
          </a:prstGeom>
          <a:noFill/>
          <a:ln/>
        </p:spPr>
        <p:txBody>
          <a:bodyPr wrap="square" lIns="0" tIns="0" rIns="0" bIns="0" rtlCol="0" anchor="ctr"/>
          <a:lstStyle/>
          <a:p>
            <a:pPr indent="0" marL="0">
              <a:buNone/>
            </a:pPr>
            <a:r>
              <a:rPr lang="en-US" sz="950" b="1" spc="180" kern="0" dirty="0">
                <a:solidFill>
                  <a:srgbClr val="E5493A"/>
                </a:solidFill>
                <a:latin typeface="Calibri" pitchFamily="34" charset="0"/>
                <a:ea typeface="Calibri" pitchFamily="34" charset="-122"/>
                <a:cs typeface="Calibri" pitchFamily="34" charset="-120"/>
              </a:rPr>
              <a:t>CHINA</a:t>
            </a:r>
            <a:endParaRPr lang="en-US" sz="950" dirty="0"/>
          </a:p>
        </p:txBody>
      </p:sp>
      <p:sp>
        <p:nvSpPr>
          <p:cNvPr id="6" name="Text 4"/>
          <p:cNvSpPr txBox="1"/>
          <p:nvPr/>
        </p:nvSpPr>
        <p:spPr>
          <a:xfrm>
            <a:off x="7772400" y="1691640"/>
            <a:ext cx="3840480" cy="274320"/>
          </a:xfrm>
          <a:prstGeom prst="rect">
            <a:avLst/>
          </a:prstGeom>
          <a:noFill/>
          <a:ln/>
        </p:spPr>
        <p:txBody>
          <a:bodyPr wrap="square" lIns="0" tIns="0" rIns="0" bIns="0" rtlCol="0" anchor="ctr"/>
          <a:lstStyle/>
          <a:p>
            <a:pPr indent="0" marL="0">
              <a:buNone/>
            </a:pPr>
            <a:r>
              <a:rPr lang="en-US" sz="950" b="1" spc="180" kern="0" dirty="0">
                <a:solidFill>
                  <a:srgbClr val="46A98A"/>
                </a:solidFill>
                <a:latin typeface="Calibri" pitchFamily="34" charset="0"/>
                <a:ea typeface="Calibri" pitchFamily="34" charset="-122"/>
                <a:cs typeface="Calibri" pitchFamily="34" charset="-120"/>
              </a:rPr>
              <a:t>KENYA</a:t>
            </a:r>
            <a:endParaRPr lang="en-US" sz="950" dirty="0"/>
          </a:p>
        </p:txBody>
      </p:sp>
      <p:sp>
        <p:nvSpPr>
          <p:cNvPr id="7" name="Shape 5"/>
          <p:cNvSpPr/>
          <p:nvPr/>
        </p:nvSpPr>
        <p:spPr>
          <a:xfrm>
            <a:off x="594360" y="1993392"/>
            <a:ext cx="11002975" cy="10973"/>
          </a:xfrm>
          <a:prstGeom prst="rect">
            <a:avLst/>
          </a:prstGeom>
          <a:solidFill>
            <a:srgbClr val="3A2F26"/>
          </a:solidFill>
          <a:ln w="12700">
            <a:solidFill>
              <a:srgbClr val="333333"/>
            </a:solidFill>
            <a:prstDash val="solid"/>
          </a:ln>
        </p:spPr>
      </p:sp>
      <p:sp>
        <p:nvSpPr>
          <p:cNvPr id="8" name="Text 6"/>
          <p:cNvSpPr txBox="1"/>
          <p:nvPr/>
        </p:nvSpPr>
        <p:spPr>
          <a:xfrm>
            <a:off x="594360" y="2148840"/>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Paperwork</a:t>
            </a:r>
            <a:endParaRPr lang="en-US" sz="1500" dirty="0"/>
          </a:p>
        </p:txBody>
      </p:sp>
      <p:sp>
        <p:nvSpPr>
          <p:cNvPr id="9" name="Text 7"/>
          <p:cNvSpPr txBox="1"/>
          <p:nvPr/>
        </p:nvSpPr>
        <p:spPr>
          <a:xfrm>
            <a:off x="3246120" y="2148840"/>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Three formal letters</a:t>
            </a:r>
            <a:endParaRPr lang="en-US" sz="1350" dirty="0"/>
          </a:p>
        </p:txBody>
      </p:sp>
      <p:sp>
        <p:nvSpPr>
          <p:cNvPr id="10" name="Text 8"/>
          <p:cNvSpPr txBox="1"/>
          <p:nvPr/>
        </p:nvSpPr>
        <p:spPr>
          <a:xfrm>
            <a:off x="3246120" y="2459736"/>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Betrothal, gift, wedding — the gift letter itemising quantities.</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11" name="Text 9"/>
          <p:cNvSpPr txBox="1"/>
          <p:nvPr/>
        </p:nvSpPr>
        <p:spPr>
          <a:xfrm>
            <a:off x="7772400" y="2148840"/>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A branch in the ground</a:t>
            </a:r>
            <a:endParaRPr lang="en-US" sz="1350" dirty="0"/>
          </a:p>
        </p:txBody>
      </p:sp>
      <p:sp>
        <p:nvSpPr>
          <p:cNvPr id="12" name="Text 10"/>
          <p:cNvSpPr txBox="1"/>
          <p:nvPr/>
        </p:nvSpPr>
        <p:spPr>
          <a:xfrm>
            <a:off x="7772400" y="2459736"/>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Binding in practice, and visible from the road.</a:t>
            </a:r>
            <a:endParaRPr lang="en-US" sz="1200" dirty="0"/>
          </a:p>
        </p:txBody>
      </p:sp>
      <p:sp>
        <p:nvSpPr>
          <p:cNvPr id="13" name="Shape 11"/>
          <p:cNvSpPr/>
          <p:nvPr/>
        </p:nvSpPr>
        <p:spPr>
          <a:xfrm>
            <a:off x="594360" y="3227832"/>
            <a:ext cx="11002975" cy="7315"/>
          </a:xfrm>
          <a:prstGeom prst="rect">
            <a:avLst/>
          </a:prstGeom>
          <a:solidFill>
            <a:srgbClr val="3A2F26"/>
          </a:solidFill>
          <a:ln w="12700">
            <a:solidFill>
              <a:srgbClr val="333333"/>
            </a:solidFill>
            <a:prstDash val="solid"/>
          </a:ln>
        </p:spPr>
      </p:sp>
      <p:sp>
        <p:nvSpPr>
          <p:cNvPr id="14" name="Text 12"/>
          <p:cNvSpPr txBox="1"/>
          <p:nvPr/>
        </p:nvSpPr>
        <p:spPr>
          <a:xfrm>
            <a:off x="594360" y="3319272"/>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Difficulty for the groom</a:t>
            </a:r>
            <a:endParaRPr lang="en-US" sz="1500" dirty="0"/>
          </a:p>
        </p:txBody>
      </p:sp>
      <p:sp>
        <p:nvSpPr>
          <p:cNvPr id="15" name="Text 13"/>
          <p:cNvSpPr txBox="1"/>
          <p:nvPr/>
        </p:nvSpPr>
        <p:spPr>
          <a:xfrm>
            <a:off x="3246120" y="3319272"/>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Wasabi, push-ups, poetry</a:t>
            </a:r>
            <a:endParaRPr lang="en-US" sz="1350" dirty="0"/>
          </a:p>
        </p:txBody>
      </p:sp>
      <p:sp>
        <p:nvSpPr>
          <p:cNvPr id="16" name="Text 14"/>
          <p:cNvSpPr txBox="1"/>
          <p:nvPr/>
        </p:nvSpPr>
        <p:spPr>
          <a:xfrm>
            <a:off x="3246120" y="3630168"/>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And a barefoot bride whose shoes he must find.</a:t>
            </a:r>
            <a:endParaRPr lang="en-US" sz="1200" dirty="0"/>
          </a:p>
        </p:txBody>
      </p:sp>
      <p:sp>
        <p:nvSpPr>
          <p:cNvPr id="17" name="Text 15"/>
          <p:cNvSpPr txBox="1"/>
          <p:nvPr/>
        </p:nvSpPr>
        <p:spPr>
          <a:xfrm>
            <a:off x="7772400" y="3319272"/>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Identify your wife under a blanket</a:t>
            </a:r>
            <a:endParaRPr lang="en-US" sz="1350" dirty="0"/>
          </a:p>
        </p:txBody>
      </p:sp>
      <p:sp>
        <p:nvSpPr>
          <p:cNvPr id="18" name="Text 16"/>
          <p:cNvSpPr txBox="1"/>
          <p:nvPr/>
        </p:nvSpPr>
        <p:spPr>
          <a:xfrm>
            <a:off x="7772400" y="3630168"/>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Twelve candidates matched for build. Wrong answer: a goat.</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19" name="Shape 17"/>
          <p:cNvSpPr/>
          <p:nvPr/>
        </p:nvSpPr>
        <p:spPr>
          <a:xfrm>
            <a:off x="594360" y="4398264"/>
            <a:ext cx="11002975" cy="7315"/>
          </a:xfrm>
          <a:prstGeom prst="rect">
            <a:avLst/>
          </a:prstGeom>
          <a:solidFill>
            <a:srgbClr val="3A2F26"/>
          </a:solidFill>
          <a:ln w="12700">
            <a:solidFill>
              <a:srgbClr val="333333"/>
            </a:solidFill>
            <a:prstDash val="solid"/>
          </a:ln>
        </p:spPr>
      </p:sp>
      <p:sp>
        <p:nvSpPr>
          <p:cNvPr id="20" name="Text 18"/>
          <p:cNvSpPr txBox="1"/>
          <p:nvPr/>
        </p:nvSpPr>
        <p:spPr>
          <a:xfrm>
            <a:off x="594360" y="4489704"/>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Consent mechanism</a:t>
            </a:r>
            <a:endParaRPr lang="en-US" sz="1500" dirty="0"/>
          </a:p>
        </p:txBody>
      </p:sp>
      <p:sp>
        <p:nvSpPr>
          <p:cNvPr id="21" name="Text 19"/>
          <p:cNvSpPr txBox="1"/>
          <p:nvPr/>
        </p:nvSpPr>
        <p:spPr>
          <a:xfrm>
            <a:off x="3246120" y="4489704"/>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The ancestors' veto</a:t>
            </a:r>
            <a:endParaRPr lang="en-US" sz="1350" dirty="0"/>
          </a:p>
        </p:txBody>
      </p:sp>
      <p:sp>
        <p:nvSpPr>
          <p:cNvPr id="22" name="Text 20"/>
          <p:cNvSpPr txBox="1"/>
          <p:nvPr/>
        </p:nvSpPr>
        <p:spPr>
          <a:xfrm>
            <a:off x="3246120" y="4800600"/>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Her birth hour on the altar for three days.</a:t>
            </a:r>
            <a:endParaRPr lang="en-US" sz="1200" dirty="0"/>
          </a:p>
        </p:txBody>
      </p:sp>
      <p:sp>
        <p:nvSpPr>
          <p:cNvPr id="23" name="Text 21"/>
          <p:cNvSpPr txBox="1"/>
          <p:nvPr/>
        </p:nvSpPr>
        <p:spPr>
          <a:xfrm>
            <a:off x="7772400" y="4489704"/>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"Shall I drink this beer?"</a:t>
            </a:r>
            <a:endParaRPr lang="en-US" sz="1350" dirty="0"/>
          </a:p>
        </p:txBody>
      </p:sp>
      <p:sp>
        <p:nvSpPr>
          <p:cNvPr id="24" name="Text 22"/>
          <p:cNvSpPr txBox="1"/>
          <p:nvPr/>
        </p:nvSpPr>
        <p:spPr>
          <a:xfrm>
            <a:off x="7772400" y="4800600"/>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Her answer stops everything, in front of 300 people.</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25" name="Text 23"/>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SCORECARD</a:t>
            </a:r>
            <a:endParaRPr lang="en-US" sz="850" dirty="0"/>
          </a:p>
        </p:txBody>
      </p:sp>
      <p:sp>
        <p:nvSpPr>
          <p:cNvPr id="26" name="Text 24"/>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SINCE THIS IS A COMPETITION</a:t>
            </a:r>
            <a:endParaRPr lang="en-US" sz="1050" dirty="0"/>
          </a:p>
        </p:txBody>
      </p:sp>
      <p:sp>
        <p:nvSpPr>
          <p:cNvPr id="3" name="Text 1"/>
          <p:cNvSpPr txBox="1"/>
          <p:nvPr/>
        </p:nvSpPr>
        <p:spPr>
          <a:xfrm>
            <a:off x="594360" y="777240"/>
            <a:ext cx="11002975" cy="655983"/>
          </a:xfrm>
          <a:prstGeom prst="rect">
            <a:avLst/>
          </a:prstGeom>
          <a:noFill/>
          <a:ln/>
        </p:spPr>
        <p:txBody>
          <a:bodyPr wrap="square" lIns="0" tIns="0" rIns="0" bIns="0" rtlCol="0" anchor="ctr"/>
          <a:lstStyle/>
          <a:p>
            <a:pPr indent="0" marL="0">
              <a:lnSpc>
                <a:spcPts val="3696"/>
              </a:lnSpc>
              <a:buNone/>
            </a:pPr>
            <a:r>
              <a:rPr lang="en-US" sz="3300" b="1" dirty="0">
                <a:solidFill>
                  <a:srgbClr val="F1E8D9"/>
                </a:solidFill>
                <a:latin typeface="Cambria" pitchFamily="34" charset="0"/>
                <a:ea typeface="Cambria" pitchFamily="34" charset="-122"/>
                <a:cs typeface="Cambria" pitchFamily="34" charset="-120"/>
              </a:rPr>
              <a:t>The scorecard, part two</a:t>
            </a:r>
            <a:endParaRPr lang="en-US" sz="3300" dirty="0"/>
          </a:p>
        </p:txBody>
      </p:sp>
      <p:sp>
        <p:nvSpPr>
          <p:cNvPr id="4" name="Text 2"/>
          <p:cNvSpPr txBox="1"/>
          <p:nvPr/>
        </p:nvSpPr>
        <p:spPr>
          <a:xfrm>
            <a:off x="594360" y="1691640"/>
            <a:ext cx="2468880" cy="274320"/>
          </a:xfrm>
          <a:prstGeom prst="rect">
            <a:avLst/>
          </a:prstGeom>
          <a:noFill/>
          <a:ln/>
        </p:spPr>
        <p:txBody>
          <a:bodyPr wrap="square" lIns="0" tIns="0" rIns="0" bIns="0" rtlCol="0" anchor="ctr"/>
          <a:lstStyle/>
          <a:p>
            <a:pPr indent="0" marL="0">
              <a:buNone/>
            </a:pPr>
            <a:r>
              <a:rPr lang="en-US" sz="950" b="1" spc="180" kern="0" dirty="0">
                <a:solidFill>
                  <a:srgbClr val="958A81"/>
                </a:solidFill>
                <a:latin typeface="Calibri" pitchFamily="34" charset="0"/>
                <a:ea typeface="Calibri" pitchFamily="34" charset="-122"/>
                <a:cs typeface="Calibri" pitchFamily="34" charset="-120"/>
              </a:rPr>
              <a:t>CATEGORY</a:t>
            </a:r>
            <a:endParaRPr lang="en-US" sz="950" dirty="0"/>
          </a:p>
        </p:txBody>
      </p:sp>
      <p:sp>
        <p:nvSpPr>
          <p:cNvPr id="5" name="Text 3"/>
          <p:cNvSpPr txBox="1"/>
          <p:nvPr/>
        </p:nvSpPr>
        <p:spPr>
          <a:xfrm>
            <a:off x="3246120" y="1691640"/>
            <a:ext cx="4297680" cy="274320"/>
          </a:xfrm>
          <a:prstGeom prst="rect">
            <a:avLst/>
          </a:prstGeom>
          <a:noFill/>
          <a:ln/>
        </p:spPr>
        <p:txBody>
          <a:bodyPr wrap="square" lIns="0" tIns="0" rIns="0" bIns="0" rtlCol="0" anchor="ctr"/>
          <a:lstStyle/>
          <a:p>
            <a:pPr indent="0" marL="0">
              <a:buNone/>
            </a:pPr>
            <a:r>
              <a:rPr lang="en-US" sz="950" b="1" spc="180" kern="0" dirty="0">
                <a:solidFill>
                  <a:srgbClr val="E5493A"/>
                </a:solidFill>
                <a:latin typeface="Calibri" pitchFamily="34" charset="0"/>
                <a:ea typeface="Calibri" pitchFamily="34" charset="-122"/>
                <a:cs typeface="Calibri" pitchFamily="34" charset="-120"/>
              </a:rPr>
              <a:t>CHINA</a:t>
            </a:r>
            <a:endParaRPr lang="en-US" sz="950" dirty="0"/>
          </a:p>
        </p:txBody>
      </p:sp>
      <p:sp>
        <p:nvSpPr>
          <p:cNvPr id="6" name="Text 4"/>
          <p:cNvSpPr txBox="1"/>
          <p:nvPr/>
        </p:nvSpPr>
        <p:spPr>
          <a:xfrm>
            <a:off x="7772400" y="1691640"/>
            <a:ext cx="3840480" cy="274320"/>
          </a:xfrm>
          <a:prstGeom prst="rect">
            <a:avLst/>
          </a:prstGeom>
          <a:noFill/>
          <a:ln/>
        </p:spPr>
        <p:txBody>
          <a:bodyPr wrap="square" lIns="0" tIns="0" rIns="0" bIns="0" rtlCol="0" anchor="ctr"/>
          <a:lstStyle/>
          <a:p>
            <a:pPr indent="0" marL="0">
              <a:buNone/>
            </a:pPr>
            <a:r>
              <a:rPr lang="en-US" sz="950" b="1" spc="180" kern="0" dirty="0">
                <a:solidFill>
                  <a:srgbClr val="46A98A"/>
                </a:solidFill>
                <a:latin typeface="Calibri" pitchFamily="34" charset="0"/>
                <a:ea typeface="Calibri" pitchFamily="34" charset="-122"/>
                <a:cs typeface="Calibri" pitchFamily="34" charset="-120"/>
              </a:rPr>
              <a:t>KENYA</a:t>
            </a:r>
            <a:endParaRPr lang="en-US" sz="950" dirty="0"/>
          </a:p>
        </p:txBody>
      </p:sp>
      <p:sp>
        <p:nvSpPr>
          <p:cNvPr id="7" name="Shape 5"/>
          <p:cNvSpPr/>
          <p:nvPr/>
        </p:nvSpPr>
        <p:spPr>
          <a:xfrm>
            <a:off x="594360" y="1993392"/>
            <a:ext cx="11002975" cy="10973"/>
          </a:xfrm>
          <a:prstGeom prst="rect">
            <a:avLst/>
          </a:prstGeom>
          <a:solidFill>
            <a:srgbClr val="3A2F26"/>
          </a:solidFill>
          <a:ln w="12700">
            <a:solidFill>
              <a:srgbClr val="333333"/>
            </a:solidFill>
            <a:prstDash val="solid"/>
          </a:ln>
        </p:spPr>
      </p:sp>
      <p:sp>
        <p:nvSpPr>
          <p:cNvPr id="8" name="Text 6"/>
          <p:cNvSpPr txBox="1"/>
          <p:nvPr/>
        </p:nvSpPr>
        <p:spPr>
          <a:xfrm>
            <a:off x="594360" y="2148840"/>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Best-designed object</a:t>
            </a:r>
            <a:endParaRPr lang="en-US" sz="1500" dirty="0"/>
          </a:p>
        </p:txBody>
      </p:sp>
      <p:sp>
        <p:nvSpPr>
          <p:cNvPr id="9" name="Text 7"/>
          <p:cNvSpPr txBox="1"/>
          <p:nvPr/>
        </p:nvSpPr>
        <p:spPr>
          <a:xfrm>
            <a:off x="3246120" y="2148840"/>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The split-gourd cup</a:t>
            </a:r>
            <a:endParaRPr lang="en-US" sz="1350" dirty="0"/>
          </a:p>
        </p:txBody>
      </p:sp>
      <p:sp>
        <p:nvSpPr>
          <p:cNvPr id="10" name="Text 8"/>
          <p:cNvSpPr txBox="1"/>
          <p:nvPr/>
        </p:nvSpPr>
        <p:spPr>
          <a:xfrm>
            <a:off x="3246120" y="2459736"/>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Two halves that fit no other half.</a:t>
            </a:r>
            <a:endParaRPr lang="en-US" sz="1200" dirty="0"/>
          </a:p>
        </p:txBody>
      </p:sp>
      <p:sp>
        <p:nvSpPr>
          <p:cNvPr id="11" name="Text 9"/>
          <p:cNvSpPr txBox="1"/>
          <p:nvPr/>
        </p:nvSpPr>
        <p:spPr>
          <a:xfrm>
            <a:off x="7772400" y="2148840"/>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The shoulder joint</a:t>
            </a:r>
            <a:endParaRPr lang="en-US" sz="1350" dirty="0"/>
          </a:p>
        </p:txBody>
      </p:sp>
      <p:sp>
        <p:nvSpPr>
          <p:cNvPr id="12" name="Text 10"/>
          <p:cNvSpPr txBox="1"/>
          <p:nvPr/>
        </p:nvSpPr>
        <p:spPr>
          <a:xfrm>
            <a:off x="7772400" y="2459736"/>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One connection, therefore one marriage.</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13" name="Shape 11"/>
          <p:cNvSpPr/>
          <p:nvPr/>
        </p:nvSpPr>
        <p:spPr>
          <a:xfrm>
            <a:off x="594360" y="3227832"/>
            <a:ext cx="11002975" cy="7315"/>
          </a:xfrm>
          <a:prstGeom prst="rect">
            <a:avLst/>
          </a:prstGeom>
          <a:solidFill>
            <a:srgbClr val="3A2F26"/>
          </a:solidFill>
          <a:ln w="12700">
            <a:solidFill>
              <a:srgbClr val="333333"/>
            </a:solidFill>
            <a:prstDash val="solid"/>
          </a:ln>
        </p:spPr>
      </p:sp>
      <p:sp>
        <p:nvSpPr>
          <p:cNvPr id="14" name="Text 12"/>
          <p:cNvSpPr txBox="1"/>
          <p:nvPr/>
        </p:nvSpPr>
        <p:spPr>
          <a:xfrm>
            <a:off x="594360" y="3319272"/>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Economic architecture</a:t>
            </a:r>
            <a:endParaRPr lang="en-US" sz="1500" dirty="0"/>
          </a:p>
        </p:txBody>
      </p:sp>
      <p:sp>
        <p:nvSpPr>
          <p:cNvPr id="15" name="Text 13"/>
          <p:cNvSpPr txBox="1"/>
          <p:nvPr/>
        </p:nvSpPr>
        <p:spPr>
          <a:xfrm>
            <a:off x="3246120" y="3319272"/>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Return a portion</a:t>
            </a:r>
            <a:endParaRPr lang="en-US" sz="1350" dirty="0"/>
          </a:p>
        </p:txBody>
      </p:sp>
      <p:sp>
        <p:nvSpPr>
          <p:cNvPr id="16" name="Text 14"/>
          <p:cNvSpPr txBox="1"/>
          <p:nvPr/>
        </p:nvSpPr>
        <p:spPr>
          <a:xfrm>
            <a:off x="3246120" y="3630168"/>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Keep it all and you look like you sold her.</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17" name="Text 15"/>
          <p:cNvSpPr txBox="1"/>
          <p:nvPr/>
        </p:nvSpPr>
        <p:spPr>
          <a:xfrm>
            <a:off x="7772400" y="3319272"/>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Never finish paying</a:t>
            </a:r>
            <a:endParaRPr lang="en-US" sz="1350" dirty="0"/>
          </a:p>
        </p:txBody>
      </p:sp>
      <p:sp>
        <p:nvSpPr>
          <p:cNvPr id="18" name="Text 16"/>
          <p:cNvSpPr txBox="1"/>
          <p:nvPr/>
        </p:nvSpPr>
        <p:spPr>
          <a:xfrm>
            <a:off x="7772400" y="3630168"/>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Inherited by the eldest son.</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19" name="Shape 17"/>
          <p:cNvSpPr/>
          <p:nvPr/>
        </p:nvSpPr>
        <p:spPr>
          <a:xfrm>
            <a:off x="594360" y="4398264"/>
            <a:ext cx="11002975" cy="7315"/>
          </a:xfrm>
          <a:prstGeom prst="rect">
            <a:avLst/>
          </a:prstGeom>
          <a:solidFill>
            <a:srgbClr val="3A2F26"/>
          </a:solidFill>
          <a:ln w="12700">
            <a:solidFill>
              <a:srgbClr val="333333"/>
            </a:solidFill>
            <a:prstDash val="solid"/>
          </a:ln>
        </p:spPr>
      </p:sp>
      <p:sp>
        <p:nvSpPr>
          <p:cNvPr id="20" name="Text 18"/>
          <p:cNvSpPr txBox="1"/>
          <p:nvPr/>
        </p:nvSpPr>
        <p:spPr>
          <a:xfrm>
            <a:off x="594360" y="4489704"/>
            <a:ext cx="2468880" cy="731520"/>
          </a:xfrm>
          <a:prstGeom prst="rect">
            <a:avLst/>
          </a:prstGeom>
          <a:noFill/>
          <a:ln/>
        </p:spPr>
        <p:txBody>
          <a:bodyPr wrap="square" lIns="0" tIns="0" rIns="0" bIns="0" rtlCol="0" anchor="ctr"/>
          <a:lstStyle/>
          <a:p>
            <a:pPr indent="0" marL="0">
              <a:lnSpc>
                <a:spcPts val="1900"/>
              </a:lnSpc>
              <a:buNone/>
            </a:pPr>
            <a:r>
              <a:rPr lang="en-US" sz="1500" b="1" dirty="0">
                <a:solidFill>
                  <a:srgbClr val="F1E8D9"/>
                </a:solidFill>
                <a:latin typeface="Cambria" pitchFamily="34" charset="0"/>
                <a:ea typeface="Cambria" pitchFamily="34" charset="-122"/>
                <a:cs typeface="Cambria" pitchFamily="34" charset="-120"/>
              </a:rPr>
              <a:t>Staying power</a:t>
            </a:r>
            <a:endParaRPr lang="en-US" sz="1500" dirty="0"/>
          </a:p>
        </p:txBody>
      </p:sp>
      <p:sp>
        <p:nvSpPr>
          <p:cNvPr id="21" name="Text 19"/>
          <p:cNvSpPr txBox="1"/>
          <p:nvPr/>
        </p:nvSpPr>
        <p:spPr>
          <a:xfrm>
            <a:off x="3246120" y="4489704"/>
            <a:ext cx="42976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Under renegotiation</a:t>
            </a:r>
            <a:endParaRPr lang="en-US" sz="1350" dirty="0"/>
          </a:p>
        </p:txBody>
      </p:sp>
      <p:sp>
        <p:nvSpPr>
          <p:cNvPr id="22" name="Text 20"/>
          <p:cNvSpPr txBox="1"/>
          <p:nvPr/>
        </p:nvSpPr>
        <p:spPr>
          <a:xfrm>
            <a:off x="3246120" y="4800600"/>
            <a:ext cx="42976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One in five Singaporean couples has dropped the door games.</a:t>
            </a:r>
            <a:endParaRPr lang="en-US" sz="1200" dirty="0"/>
          </a:p>
        </p:txBody>
      </p:sp>
      <p:sp>
        <p:nvSpPr>
          <p:cNvPr id="23" name="Text 21"/>
          <p:cNvSpPr txBox="1"/>
          <p:nvPr/>
        </p:nvSpPr>
        <p:spPr>
          <a:xfrm>
            <a:off x="7772400" y="4489704"/>
            <a:ext cx="3840480" cy="292608"/>
          </a:xfrm>
          <a:prstGeom prst="rect">
            <a:avLst/>
          </a:prstGeom>
          <a:noFill/>
          <a:ln/>
        </p:spPr>
        <p:txBody>
          <a:bodyPr wrap="square" lIns="0" tIns="0" rIns="0" bIns="0" rtlCol="0" anchor="ctr"/>
          <a:lstStyle/>
          <a:p>
            <a:pPr indent="0" marL="0">
              <a:buNone/>
            </a:pPr>
            <a:r>
              <a:rPr lang="en-US" sz="1350" b="1" dirty="0">
                <a:solidFill>
                  <a:srgbClr val="F1E8D9"/>
                </a:solidFill>
                <a:latin typeface="Calibri" pitchFamily="34" charset="0"/>
                <a:ea typeface="Calibri" pitchFamily="34" charset="-122"/>
                <a:cs typeface="Calibri" pitchFamily="34" charset="-120"/>
              </a:rPr>
              <a:t>Non-negotiable</a:t>
            </a:r>
            <a:endParaRPr lang="en-US" sz="1350" dirty="0"/>
          </a:p>
        </p:txBody>
      </p:sp>
      <p:sp>
        <p:nvSpPr>
          <p:cNvPr id="24" name="Text 22"/>
          <p:cNvSpPr txBox="1"/>
          <p:nvPr/>
        </p:nvSpPr>
        <p:spPr>
          <a:xfrm>
            <a:off x="7772400" y="4800600"/>
            <a:ext cx="3840480" cy="777240"/>
          </a:xfrm>
          <a:prstGeom prst="rect">
            <a:avLst/>
          </a:prstGeom>
          <a:noFill/>
          <a:ln/>
        </p:spPr>
        <p:txBody>
          <a:bodyPr wrap="square" lIns="0" tIns="0" rIns="0" bIns="0" rtlCol="0" anchor="t"/>
          <a:lstStyle/>
          <a:p>
            <a:pPr indent="0" marL="0">
              <a:lnSpc>
                <a:spcPts val="1700"/>
              </a:lnSpc>
              <a:buNone/>
            </a:pPr>
            <a:r>
              <a:rPr lang="en-US" sz="1200" dirty="0">
                <a:solidFill>
                  <a:srgbClr val="A99A8F"/>
                </a:solidFill>
                <a:latin typeface="Calibri" pitchFamily="34" charset="0"/>
                <a:ea typeface="Calibri" pitchFamily="34" charset="-122"/>
                <a:cs typeface="Calibri" pitchFamily="34" charset="-120"/>
              </a:rPr>
              <a:t>Without Ngurario the elders call it unfinished.</a:t>
            </a:r>
            <a:endParaRPr lang="en-US" sz="1200" dirty="0"/>
          </a:p>
          <a:p>
            <a:pPr indent="0" marL="0">
              <a:lnSpc>
                <a:spcPts val="1700"/>
              </a:lnSpc>
              <a:buNone/>
            </a:pPr>
            <a:r>
              <a:rPr lang="en-US" sz="1200" b="1" spc="120" kern="0" dirty="0">
                <a:solidFill>
                  <a:srgbClr val="DDAC4E"/>
                </a:solidFill>
                <a:latin typeface="Calibri" pitchFamily="34" charset="0"/>
                <a:ea typeface="Calibri" pitchFamily="34" charset="-122"/>
                <a:cs typeface="Calibri" pitchFamily="34" charset="-120"/>
              </a:rPr>
              <a:t>WINNER</a:t>
            </a:r>
            <a:endParaRPr lang="en-US" sz="1200" dirty="0"/>
          </a:p>
        </p:txBody>
      </p:sp>
      <p:sp>
        <p:nvSpPr>
          <p:cNvPr id="25" name="Text 23"/>
          <p:cNvSpPr txBox="1"/>
          <p:nvPr/>
        </p:nvSpPr>
        <p:spPr>
          <a:xfrm>
            <a:off x="594360" y="5596128"/>
            <a:ext cx="2468880" cy="365760"/>
          </a:xfrm>
          <a:prstGeom prst="rect">
            <a:avLst/>
          </a:prstGeom>
          <a:noFill/>
          <a:ln/>
        </p:spPr>
        <p:txBody>
          <a:bodyPr wrap="square" lIns="0" tIns="0" rIns="0" bIns="0" rtlCol="0" anchor="ctr"/>
          <a:lstStyle/>
          <a:p>
            <a:pPr indent="0" marL="0">
              <a:buNone/>
            </a:pPr>
            <a:r>
              <a:rPr lang="en-US" sz="1500" b="1" dirty="0">
                <a:solidFill>
                  <a:srgbClr val="DDAC4E"/>
                </a:solidFill>
                <a:latin typeface="Cambria" pitchFamily="34" charset="0"/>
                <a:ea typeface="Cambria" pitchFamily="34" charset="-122"/>
                <a:cs typeface="Cambria" pitchFamily="34" charset="-120"/>
              </a:rPr>
              <a:t>Final</a:t>
            </a:r>
            <a:endParaRPr lang="en-US" sz="1500" dirty="0"/>
          </a:p>
        </p:txBody>
      </p:sp>
      <p:sp>
        <p:nvSpPr>
          <p:cNvPr id="26" name="Text 24"/>
          <p:cNvSpPr txBox="1"/>
          <p:nvPr/>
        </p:nvSpPr>
        <p:spPr>
          <a:xfrm>
            <a:off x="3246120" y="5504688"/>
            <a:ext cx="502920" cy="502920"/>
          </a:xfrm>
          <a:prstGeom prst="rect">
            <a:avLst/>
          </a:prstGeom>
          <a:noFill/>
          <a:ln/>
        </p:spPr>
        <p:txBody>
          <a:bodyPr wrap="square" lIns="0" tIns="0" rIns="0" bIns="0" rtlCol="0" anchor="ctr"/>
          <a:lstStyle/>
          <a:p>
            <a:pPr indent="0" marL="0">
              <a:buNone/>
            </a:pPr>
            <a:r>
              <a:rPr lang="en-US" sz="2600" b="1" dirty="0">
                <a:solidFill>
                  <a:srgbClr val="E5493A"/>
                </a:solidFill>
                <a:latin typeface="Cambria" pitchFamily="34" charset="0"/>
                <a:ea typeface="Cambria" pitchFamily="34" charset="-122"/>
                <a:cs typeface="Cambria" pitchFamily="34" charset="-120"/>
              </a:rPr>
              <a:t>2</a:t>
            </a:r>
            <a:endParaRPr lang="en-US" sz="2600" dirty="0"/>
          </a:p>
        </p:txBody>
      </p:sp>
      <p:sp>
        <p:nvSpPr>
          <p:cNvPr id="27" name="Text 25"/>
          <p:cNvSpPr txBox="1"/>
          <p:nvPr/>
        </p:nvSpPr>
        <p:spPr>
          <a:xfrm>
            <a:off x="3749040" y="5623560"/>
            <a:ext cx="2743200" cy="320040"/>
          </a:xfrm>
          <a:prstGeom prst="rect">
            <a:avLst/>
          </a:prstGeom>
          <a:noFill/>
          <a:ln/>
        </p:spPr>
        <p:txBody>
          <a:bodyPr wrap="square" lIns="0" tIns="0" rIns="0" bIns="0" rtlCol="0" anchor="ctr"/>
          <a:lstStyle/>
          <a:p>
            <a:pPr indent="0" marL="0">
              <a:buNone/>
            </a:pPr>
            <a:r>
              <a:rPr lang="en-US" sz="1300" dirty="0">
                <a:solidFill>
                  <a:srgbClr val="A99A8F"/>
                </a:solidFill>
                <a:latin typeface="Calibri" pitchFamily="34" charset="0"/>
                <a:ea typeface="Calibri" pitchFamily="34" charset="-122"/>
                <a:cs typeface="Calibri" pitchFamily="34" charset="-120"/>
              </a:rPr>
              <a:t>China</a:t>
            </a:r>
            <a:endParaRPr lang="en-US" sz="1300" dirty="0"/>
          </a:p>
        </p:txBody>
      </p:sp>
      <p:sp>
        <p:nvSpPr>
          <p:cNvPr id="28" name="Text 26"/>
          <p:cNvSpPr txBox="1"/>
          <p:nvPr/>
        </p:nvSpPr>
        <p:spPr>
          <a:xfrm>
            <a:off x="7772400" y="5504688"/>
            <a:ext cx="502920" cy="502920"/>
          </a:xfrm>
          <a:prstGeom prst="rect">
            <a:avLst/>
          </a:prstGeom>
          <a:noFill/>
          <a:ln/>
        </p:spPr>
        <p:txBody>
          <a:bodyPr wrap="square" lIns="0" tIns="0" rIns="0" bIns="0" rtlCol="0" anchor="ctr"/>
          <a:lstStyle/>
          <a:p>
            <a:pPr indent="0" marL="0">
              <a:buNone/>
            </a:pPr>
            <a:r>
              <a:rPr lang="en-US" sz="2600" b="1" dirty="0">
                <a:solidFill>
                  <a:srgbClr val="46A98A"/>
                </a:solidFill>
                <a:latin typeface="Cambria" pitchFamily="34" charset="0"/>
                <a:ea typeface="Cambria" pitchFamily="34" charset="-122"/>
                <a:cs typeface="Cambria" pitchFamily="34" charset="-120"/>
              </a:rPr>
              <a:t>5</a:t>
            </a:r>
            <a:endParaRPr lang="en-US" sz="2600" dirty="0"/>
          </a:p>
        </p:txBody>
      </p:sp>
      <p:sp>
        <p:nvSpPr>
          <p:cNvPr id="29" name="Text 27"/>
          <p:cNvSpPr txBox="1"/>
          <p:nvPr/>
        </p:nvSpPr>
        <p:spPr>
          <a:xfrm>
            <a:off x="8275320" y="5623560"/>
            <a:ext cx="2743200" cy="320040"/>
          </a:xfrm>
          <a:prstGeom prst="rect">
            <a:avLst/>
          </a:prstGeom>
          <a:noFill/>
          <a:ln/>
        </p:spPr>
        <p:txBody>
          <a:bodyPr wrap="square" lIns="0" tIns="0" rIns="0" bIns="0" rtlCol="0" anchor="ctr"/>
          <a:lstStyle/>
          <a:p>
            <a:pPr indent="0" marL="0">
              <a:buNone/>
            </a:pPr>
            <a:r>
              <a:rPr lang="en-US" sz="1300" dirty="0">
                <a:solidFill>
                  <a:srgbClr val="A99A8F"/>
                </a:solidFill>
                <a:latin typeface="Calibri" pitchFamily="34" charset="0"/>
                <a:ea typeface="Calibri" pitchFamily="34" charset="-122"/>
                <a:cs typeface="Calibri" pitchFamily="34" charset="-120"/>
              </a:rPr>
              <a:t>Kenya takes it</a:t>
            </a:r>
            <a:endParaRPr lang="en-US" sz="1300" dirty="0"/>
          </a:p>
        </p:txBody>
      </p:sp>
      <p:sp>
        <p:nvSpPr>
          <p:cNvPr id="30" name="Text 28"/>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SCORECARD</a:t>
            </a:r>
            <a:endParaRPr lang="en-US" sz="850" dirty="0"/>
          </a:p>
        </p:txBody>
      </p:sp>
      <p:sp>
        <p:nvSpPr>
          <p:cNvPr id="31" name="Text 29"/>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0E0C"/>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74320"/>
          </a:xfrm>
          <a:prstGeom prst="rect">
            <a:avLst/>
          </a:prstGeom>
          <a:noFill/>
          <a:ln/>
        </p:spPr>
        <p:txBody>
          <a:bodyPr wrap="square" lIns="0" tIns="0" rIns="0" bIns="0" rtlCol="0" anchor="ctr"/>
          <a:lstStyle/>
          <a:p>
            <a:pPr indent="0" marL="0">
              <a:buNone/>
            </a:pPr>
            <a:r>
              <a:rPr lang="en-US" sz="1050" b="1" spc="240" kern="0" dirty="0">
                <a:solidFill>
                  <a:srgbClr val="958A81"/>
                </a:solidFill>
                <a:latin typeface="Calibri" pitchFamily="34" charset="0"/>
                <a:ea typeface="Calibri" pitchFamily="34" charset="-122"/>
                <a:cs typeface="Calibri" pitchFamily="34" charset="-120"/>
              </a:rPr>
              <a:t>TO CLOSE</a:t>
            </a:r>
            <a:endParaRPr lang="en-US" sz="1050" dirty="0"/>
          </a:p>
        </p:txBody>
      </p:sp>
      <p:sp>
        <p:nvSpPr>
          <p:cNvPr id="3" name="Text 1"/>
          <p:cNvSpPr txBox="1"/>
          <p:nvPr/>
        </p:nvSpPr>
        <p:spPr>
          <a:xfrm>
            <a:off x="594360" y="1325880"/>
            <a:ext cx="9875520" cy="1920240"/>
          </a:xfrm>
          <a:prstGeom prst="rect">
            <a:avLst/>
          </a:prstGeom>
          <a:noFill/>
          <a:ln/>
        </p:spPr>
        <p:txBody>
          <a:bodyPr wrap="square" lIns="0" tIns="0" rIns="0" bIns="0" rtlCol="0" anchor="ctr"/>
          <a:lstStyle/>
          <a:p>
            <a:pPr indent="0" marL="0">
              <a:lnSpc>
                <a:spcPts val="4200"/>
              </a:lnSpc>
              <a:buNone/>
            </a:pPr>
            <a:r>
              <a:rPr lang="en-US" sz="3200" dirty="0">
                <a:solidFill>
                  <a:srgbClr val="F1E8D9"/>
                </a:solidFill>
                <a:latin typeface="Cambria" pitchFamily="34" charset="0"/>
                <a:ea typeface="Cambria" pitchFamily="34" charset="-122"/>
                <a:cs typeface="Cambria" pitchFamily="34" charset="-120"/>
              </a:rPr>
              <a:t>Mendanĩte ta gĩkwa na mũkũngũgũ — </a:t>
            </a:r>
            <a:pPr indent="0" marL="0">
              <a:lnSpc>
                <a:spcPts val="4200"/>
              </a:lnSpc>
              <a:buNone/>
            </a:pPr>
            <a:r>
              <a:rPr lang="en-US" sz="3200" i="1" dirty="0">
                <a:solidFill>
                  <a:srgbClr val="DDAC4E"/>
                </a:solidFill>
                <a:latin typeface="Cambria" pitchFamily="34" charset="0"/>
                <a:ea typeface="Cambria" pitchFamily="34" charset="-122"/>
                <a:cs typeface="Cambria" pitchFamily="34" charset="-120"/>
              </a:rPr>
              <a:t>they love each other the way a yam loves the stake it climbs.</a:t>
            </a:r>
            <a:endParaRPr lang="en-US" sz="3200" dirty="0"/>
          </a:p>
        </p:txBody>
      </p:sp>
      <p:sp>
        <p:nvSpPr>
          <p:cNvPr id="4" name="Text 2"/>
          <p:cNvSpPr txBox="1"/>
          <p:nvPr/>
        </p:nvSpPr>
        <p:spPr>
          <a:xfrm>
            <a:off x="594360" y="3291840"/>
            <a:ext cx="8229600" cy="274320"/>
          </a:xfrm>
          <a:prstGeom prst="rect">
            <a:avLst/>
          </a:prstGeom>
          <a:noFill/>
          <a:ln/>
        </p:spPr>
        <p:txBody>
          <a:bodyPr wrap="square" lIns="0" tIns="0" rIns="0" bIns="0" rtlCol="0" anchor="ctr"/>
          <a:lstStyle/>
          <a:p>
            <a:pPr indent="0" marL="0">
              <a:buNone/>
            </a:pPr>
            <a:r>
              <a:rPr lang="en-US" sz="950" b="1" spc="180" kern="0" dirty="0">
                <a:solidFill>
                  <a:srgbClr val="958A81"/>
                </a:solidFill>
                <a:latin typeface="Calibri" pitchFamily="34" charset="0"/>
                <a:ea typeface="Calibri" pitchFamily="34" charset="-122"/>
                <a:cs typeface="Calibri" pitchFamily="34" charset="-120"/>
              </a:rPr>
              <a:t>KIKUYU BLESSING, SPOKEN AS THE CEREMONY ENDS</a:t>
            </a:r>
            <a:endParaRPr lang="en-US" sz="950" dirty="0"/>
          </a:p>
        </p:txBody>
      </p:sp>
      <p:sp>
        <p:nvSpPr>
          <p:cNvPr id="5" name="Text 3"/>
          <p:cNvSpPr txBox="1"/>
          <p:nvPr/>
        </p:nvSpPr>
        <p:spPr>
          <a:xfrm>
            <a:off x="594360" y="3977640"/>
            <a:ext cx="4572000" cy="320040"/>
          </a:xfrm>
          <a:prstGeom prst="rect">
            <a:avLst/>
          </a:prstGeom>
          <a:noFill/>
          <a:ln/>
        </p:spPr>
        <p:txBody>
          <a:bodyPr wrap="square" lIns="0" tIns="0" rIns="0" bIns="0" rtlCol="0" anchor="ctr"/>
          <a:lstStyle/>
          <a:p>
            <a:pPr indent="0" marL="0">
              <a:buNone/>
            </a:pPr>
            <a:r>
              <a:rPr lang="en-US" sz="1500" b="1" dirty="0">
                <a:solidFill>
                  <a:srgbClr val="F1E8D9"/>
                </a:solidFill>
                <a:latin typeface="Cambria" pitchFamily="34" charset="0"/>
                <a:ea typeface="Cambria" pitchFamily="34" charset="-122"/>
                <a:cs typeface="Cambria" pitchFamily="34" charset="-120"/>
              </a:rPr>
              <a:t>Sources</a:t>
            </a:r>
            <a:endParaRPr lang="en-US" sz="1500" dirty="0"/>
          </a:p>
        </p:txBody>
      </p:sp>
      <p:sp>
        <p:nvSpPr>
          <p:cNvPr id="6" name="Text 4"/>
          <p:cNvSpPr txBox="1"/>
          <p:nvPr/>
        </p:nvSpPr>
        <p:spPr>
          <a:xfrm>
            <a:off x="594360" y="4370832"/>
            <a:ext cx="5394960" cy="1097280"/>
          </a:xfrm>
          <a:prstGeom prst="rect">
            <a:avLst/>
          </a:prstGeom>
          <a:noFill/>
          <a:ln/>
        </p:spPr>
        <p:txBody>
          <a:bodyPr wrap="square" lIns="0" tIns="0" rIns="0" bIns="0" rtlCol="0" anchor="t"/>
          <a:lstStyle/>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Harusi Hub — Rũracio &amp; Ngurario guides</a:t>
            </a:r>
            <a:endParaRPr lang="en-US" sz="1150" dirty="0"/>
          </a:p>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Pulse Kenya — Stages of a Kikuyu traditional marriage</a:t>
            </a:r>
            <a:endParaRPr lang="en-US" sz="1150" dirty="0"/>
          </a:p>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BeingAfrican — Kikuyu marriage practices</a:t>
            </a:r>
            <a:endParaRPr lang="en-US" sz="1150" dirty="0"/>
          </a:p>
        </p:txBody>
      </p:sp>
      <p:sp>
        <p:nvSpPr>
          <p:cNvPr id="7" name="Text 5"/>
          <p:cNvSpPr txBox="1"/>
          <p:nvPr/>
        </p:nvSpPr>
        <p:spPr>
          <a:xfrm>
            <a:off x="6309360" y="4370832"/>
            <a:ext cx="5303520" cy="1097280"/>
          </a:xfrm>
          <a:prstGeom prst="rect">
            <a:avLst/>
          </a:prstGeom>
          <a:noFill/>
          <a:ln/>
        </p:spPr>
        <p:txBody>
          <a:bodyPr wrap="square" lIns="0" tIns="0" rIns="0" bIns="0" rtlCol="0" anchor="t"/>
          <a:lstStyle/>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Wikipedia — Chinese pre-wedding customs; door games; Qungua</a:t>
            </a:r>
            <a:endParaRPr lang="en-US" sz="1150" dirty="0"/>
          </a:p>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CITS &amp; Top China Travel — Three Letters and Six Etiquettes</a:t>
            </a:r>
            <a:endParaRPr lang="en-US" sz="1150" dirty="0"/>
          </a:p>
          <a:p>
            <a:pPr marL="342900" indent="-342900">
              <a:lnSpc>
                <a:spcPts val="1700"/>
              </a:lnSpc>
              <a:buSzPct val="100000"/>
              <a:buChar char="•"/>
            </a:pPr>
            <a:r>
              <a:rPr lang="en-US" sz="1150" dirty="0">
                <a:solidFill>
                  <a:srgbClr val="A99A8F"/>
                </a:solidFill>
                <a:latin typeface="Calibri" pitchFamily="34" charset="0"/>
                <a:ea typeface="Calibri" pitchFamily="34" charset="-122"/>
                <a:cs typeface="Calibri" pitchFamily="34" charset="-120"/>
              </a:rPr>
              <a:t>SCMP — Chinese wedding rituals explained</a:t>
            </a:r>
            <a:endParaRPr lang="en-US" sz="1150" dirty="0"/>
          </a:p>
        </p:txBody>
      </p:sp>
      <p:sp>
        <p:nvSpPr>
          <p:cNvPr id="8" name="Text 6"/>
          <p:cNvSpPr txBox="1"/>
          <p:nvPr/>
        </p:nvSpPr>
        <p:spPr>
          <a:xfrm>
            <a:off x="594360" y="5623560"/>
            <a:ext cx="10789920" cy="731520"/>
          </a:xfrm>
          <a:prstGeom prst="rect">
            <a:avLst/>
          </a:prstGeom>
          <a:noFill/>
          <a:ln/>
        </p:spPr>
        <p:txBody>
          <a:bodyPr wrap="square" lIns="0" tIns="0" rIns="0" bIns="0" rtlCol="0" anchor="t"/>
          <a:lstStyle/>
          <a:p>
            <a:pPr indent="0" marL="0">
              <a:lnSpc>
                <a:spcPts val="1500"/>
              </a:lnSpc>
              <a:buNone/>
            </a:pPr>
            <a:r>
              <a:rPr lang="en-US" sz="1050" dirty="0">
                <a:solidFill>
                  <a:srgbClr val="A99A8F"/>
                </a:solidFill>
                <a:latin typeface="Calibri" pitchFamily="34" charset="0"/>
                <a:ea typeface="Calibri" pitchFamily="34" charset="-122"/>
                <a:cs typeface="Calibri" pitchFamily="34" charset="-120"/>
              </a:rPr>
              <a:t>Gĩkũyũ practice varies between the nine clans; several Chinese customs here are Cantonese, Teochew or Hokkien rather than pan-Chinese. Shilling figures are 2026 estimates from Kenyan wedding-industry sources. Customary marriage in Kenya is recognised under the Marriage Act, 2014.</a:t>
            </a:r>
            <a:endParaRPr lang="en-US" sz="1050" dirty="0"/>
          </a:p>
        </p:txBody>
      </p:sp>
      <p:sp>
        <p:nvSpPr>
          <p:cNvPr id="9" name="Text 7"/>
          <p:cNvSpPr txBox="1"/>
          <p:nvPr/>
        </p:nvSpPr>
        <p:spPr>
          <a:xfrm>
            <a:off x="594360" y="6291072"/>
            <a:ext cx="4572000" cy="256032"/>
          </a:xfrm>
          <a:prstGeom prst="rect">
            <a:avLst/>
          </a:prstGeom>
          <a:noFill/>
          <a:ln/>
        </p:spPr>
        <p:txBody>
          <a:bodyPr wrap="square" lIns="0" tIns="0" rIns="0" bIns="0" rtlCol="0" anchor="ctr"/>
          <a:lstStyle/>
          <a:p>
            <a:pPr indent="0" marL="0">
              <a:buNone/>
            </a:pPr>
            <a:r>
              <a:rPr lang="en-US" sz="850" b="1" spc="180" kern="0" dirty="0">
                <a:solidFill>
                  <a:srgbClr val="958A81"/>
                </a:solidFill>
                <a:latin typeface="Calibri" pitchFamily="34" charset="0"/>
                <a:ea typeface="Calibri" pitchFamily="34" charset="-122"/>
                <a:cs typeface="Calibri" pitchFamily="34" charset="-120"/>
              </a:rPr>
              <a:t>CLOSE</a:t>
            </a:r>
            <a:endParaRPr lang="en-US" sz="850" dirty="0"/>
          </a:p>
        </p:txBody>
      </p:sp>
      <p:sp>
        <p:nvSpPr>
          <p:cNvPr id="10" name="Text 8"/>
          <p:cNvSpPr txBox="1"/>
          <p:nvPr/>
        </p:nvSpPr>
        <p:spPr>
          <a:xfrm>
            <a:off x="9768535" y="6291072"/>
            <a:ext cx="1828800" cy="256032"/>
          </a:xfrm>
          <a:prstGeom prst="rect">
            <a:avLst/>
          </a:prstGeom>
          <a:noFill/>
          <a:ln/>
        </p:spPr>
        <p:txBody>
          <a:bodyPr wrap="square" lIns="0" tIns="0" rIns="0" bIns="0" rtlCol="0" anchor="ctr"/>
          <a:lstStyle/>
          <a:p>
            <a:pPr algn="r" indent="0" marL="0">
              <a:buNone/>
            </a:pPr>
            <a:r>
              <a:rPr lang="en-US" sz="850" spc="120" kern="0" dirty="0">
                <a:solidFill>
                  <a:srgbClr val="958A81"/>
                </a:solidFill>
                <a:latin typeface="Calibri" pitchFamily="34" charset="0"/>
                <a:ea typeface="Calibri" pitchFamily="34" charset="-122"/>
                <a:cs typeface="Calibri" pitchFamily="34" charset="-120"/>
              </a:rPr>
              <a:t>24 / 24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Six Rites, Ninety-Nine Goats</dc:title>
  <dc:subject>PptxGenJS Presentation</dc:subject>
  <dc:creator>njange</dc:creator>
  <cp:lastModifiedBy>njange</cp:lastModifiedBy>
  <cp:revision>1</cp:revision>
  <dcterms:created xsi:type="dcterms:W3CDTF">2026-09-13T19:22:05Z</dcterms:created>
  <dcterms:modified xsi:type="dcterms:W3CDTF">2026-09-13T19:22:05Z</dcterms:modified>
</cp:coreProperties>
</file>